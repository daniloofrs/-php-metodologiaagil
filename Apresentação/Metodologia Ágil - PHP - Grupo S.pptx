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rimo Bold" charset="1" panose="020B0704020202020204"/>
      <p:regular r:id="rId25"/>
    </p:embeddedFont>
    <p:embeddedFont>
      <p:font typeface="Raleway Bold" charset="1" panose="00000000000000000000"/>
      <p:regular r:id="rId27"/>
    </p:embeddedFont>
    <p:embeddedFont>
      <p:font typeface="Raleway" charset="1" panose="00000000000000000000"/>
      <p:regular r:id="rId28"/>
    </p:embeddedFont>
    <p:embeddedFont>
      <p:font typeface="Arimo" charset="1" panose="020B0604020202020204"/>
      <p:regular r:id="rId29"/>
    </p:embeddedFont>
    <p:embeddedFont>
      <p:font typeface="Open Sans" charset="1" panose="020B060603050402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fonts/font33.fntdata" Type="http://schemas.openxmlformats.org/officeDocument/2006/relationships/font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svg" Type="http://schemas.openxmlformats.org/officeDocument/2006/relationships/image"/><Relationship Id="rId11" Target="../media/image54.png" Type="http://schemas.openxmlformats.org/officeDocument/2006/relationships/image"/><Relationship Id="rId12" Target="../media/image55.svg" Type="http://schemas.openxmlformats.org/officeDocument/2006/relationships/image"/><Relationship Id="rId13" Target="../media/image56.png" Type="http://schemas.openxmlformats.org/officeDocument/2006/relationships/image"/><Relationship Id="rId14" Target="../media/image57.svg" Type="http://schemas.openxmlformats.org/officeDocument/2006/relationships/image"/><Relationship Id="rId15" Target="../media/image58.png" Type="http://schemas.openxmlformats.org/officeDocument/2006/relationships/image"/><Relationship Id="rId16" Target="../media/image59.svg" Type="http://schemas.openxmlformats.org/officeDocument/2006/relationships/image"/><Relationship Id="rId17" Target="../media/image60.png" Type="http://schemas.openxmlformats.org/officeDocument/2006/relationships/image"/><Relationship Id="rId18" Target="../media/image61.sv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sv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62.png" Type="http://schemas.openxmlformats.org/officeDocument/2006/relationships/image"/><Relationship Id="rId4" Target="../media/image63.svg" Type="http://schemas.openxmlformats.org/officeDocument/2006/relationships/image"/><Relationship Id="rId5" Target="../media/image64.png" Type="http://schemas.openxmlformats.org/officeDocument/2006/relationships/image"/><Relationship Id="rId6" Target="../media/image65.svg" Type="http://schemas.openxmlformats.org/officeDocument/2006/relationships/image"/><Relationship Id="rId7" Target="../media/image66.png" Type="http://schemas.openxmlformats.org/officeDocument/2006/relationships/image"/><Relationship Id="rId8" Target="../media/image67.sv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sv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62.png" Type="http://schemas.openxmlformats.org/officeDocument/2006/relationships/image"/><Relationship Id="rId4" Target="../media/image63.svg" Type="http://schemas.openxmlformats.org/officeDocument/2006/relationships/image"/><Relationship Id="rId5" Target="../media/image64.png" Type="http://schemas.openxmlformats.org/officeDocument/2006/relationships/image"/><Relationship Id="rId6" Target="../media/image65.svg" Type="http://schemas.openxmlformats.org/officeDocument/2006/relationships/image"/><Relationship Id="rId7" Target="../media/image66.png" Type="http://schemas.openxmlformats.org/officeDocument/2006/relationships/image"/><Relationship Id="rId8" Target="../media/image67.sv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svg" Type="http://schemas.openxmlformats.org/officeDocument/2006/relationships/image"/><Relationship Id="rId11" Target="../media/image76.png" Type="http://schemas.openxmlformats.org/officeDocument/2006/relationships/image"/><Relationship Id="rId12" Target="../media/image77.svg" Type="http://schemas.openxmlformats.org/officeDocument/2006/relationships/image"/><Relationship Id="rId13" Target="../media/image78.png" Type="http://schemas.openxmlformats.org/officeDocument/2006/relationships/image"/><Relationship Id="rId14" Target="../media/image79.svg" Type="http://schemas.openxmlformats.org/officeDocument/2006/relationships/image"/><Relationship Id="rId15" Target="../media/image80.png" Type="http://schemas.openxmlformats.org/officeDocument/2006/relationships/image"/><Relationship Id="rId16" Target="../media/image81.png" Type="http://schemas.openxmlformats.org/officeDocument/2006/relationships/image"/><Relationship Id="rId17" Target="../media/image82.png" Type="http://schemas.openxmlformats.org/officeDocument/2006/relationships/image"/><Relationship Id="rId2" Target="../notesSlides/notesSlide14.xml" Type="http://schemas.openxmlformats.org/officeDocument/2006/relationships/notesSlide"/><Relationship Id="rId3" Target="../media/image68.png" Type="http://schemas.openxmlformats.org/officeDocument/2006/relationships/image"/><Relationship Id="rId4" Target="../media/image69.svg" Type="http://schemas.openxmlformats.org/officeDocument/2006/relationships/image"/><Relationship Id="rId5" Target="../media/image70.png" Type="http://schemas.openxmlformats.org/officeDocument/2006/relationships/image"/><Relationship Id="rId6" Target="../media/image71.svg" Type="http://schemas.openxmlformats.org/officeDocument/2006/relationships/image"/><Relationship Id="rId7" Target="../media/image72.png" Type="http://schemas.openxmlformats.org/officeDocument/2006/relationships/image"/><Relationship Id="rId8" Target="../media/image73.sv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5.png" Type="http://schemas.openxmlformats.org/officeDocument/2006/relationships/image"/><Relationship Id="rId4" Target="../media/image2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svg" Type="http://schemas.openxmlformats.org/officeDocument/2006/relationships/image"/><Relationship Id="rId11" Target="../media/image91.png" Type="http://schemas.openxmlformats.org/officeDocument/2006/relationships/image"/><Relationship Id="rId12" Target="../media/image92.svg" Type="http://schemas.openxmlformats.org/officeDocument/2006/relationships/image"/><Relationship Id="rId2" Target="../notesSlides/notesSlide16.xml" Type="http://schemas.openxmlformats.org/officeDocument/2006/relationships/notesSlide"/><Relationship Id="rId3" Target="../media/image83.png" Type="http://schemas.openxmlformats.org/officeDocument/2006/relationships/image"/><Relationship Id="rId4" Target="../media/image84.svg" Type="http://schemas.openxmlformats.org/officeDocument/2006/relationships/image"/><Relationship Id="rId5" Target="../media/image85.png" Type="http://schemas.openxmlformats.org/officeDocument/2006/relationships/image"/><Relationship Id="rId6" Target="../media/image86.svg" Type="http://schemas.openxmlformats.org/officeDocument/2006/relationships/image"/><Relationship Id="rId7" Target="../media/image87.png" Type="http://schemas.openxmlformats.org/officeDocument/2006/relationships/image"/><Relationship Id="rId8" Target="../media/image88.svg" Type="http://schemas.openxmlformats.org/officeDocument/2006/relationships/image"/><Relationship Id="rId9" Target="../media/image8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15075" y="-1091025"/>
            <a:ext cx="2241736" cy="2241736"/>
          </a:xfrm>
          <a:custGeom>
            <a:avLst/>
            <a:gdLst/>
            <a:ahLst/>
            <a:cxnLst/>
            <a:rect r="r" b="b" t="t" l="l"/>
            <a:pathLst>
              <a:path h="2241736" w="2241736">
                <a:moveTo>
                  <a:pt x="0" y="0"/>
                </a:moveTo>
                <a:lnTo>
                  <a:pt x="2241736" y="0"/>
                </a:lnTo>
                <a:lnTo>
                  <a:pt x="2241736" y="2241736"/>
                </a:lnTo>
                <a:lnTo>
                  <a:pt x="0" y="224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07871" y="4209111"/>
            <a:ext cx="2339172" cy="513608"/>
          </a:xfrm>
          <a:custGeom>
            <a:avLst/>
            <a:gdLst/>
            <a:ahLst/>
            <a:cxnLst/>
            <a:rect r="r" b="b" t="t" l="l"/>
            <a:pathLst>
              <a:path h="513608" w="2339172">
                <a:moveTo>
                  <a:pt x="0" y="0"/>
                </a:moveTo>
                <a:lnTo>
                  <a:pt x="2339172" y="0"/>
                </a:lnTo>
                <a:lnTo>
                  <a:pt x="2339172" y="513608"/>
                </a:lnTo>
                <a:lnTo>
                  <a:pt x="0" y="5136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5391564">
            <a:off x="12535484" y="11941051"/>
            <a:ext cx="7763873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2650301">
            <a:off x="16221191" y="7615393"/>
            <a:ext cx="1320660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5400000">
            <a:off x="17273365" y="6832363"/>
            <a:ext cx="405900" cy="401750"/>
            <a:chOff x="0" y="0"/>
            <a:chExt cx="541200" cy="5356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12700"/>
              <a:ext cx="515620" cy="510032"/>
            </a:xfrm>
            <a:custGeom>
              <a:avLst/>
              <a:gdLst/>
              <a:ahLst/>
              <a:cxnLst/>
              <a:rect r="r" b="b" t="t" l="l"/>
              <a:pathLst>
                <a:path h="510032" w="515620">
                  <a:moveTo>
                    <a:pt x="0" y="255778"/>
                  </a:moveTo>
                  <a:cubicBezTo>
                    <a:pt x="0" y="397256"/>
                    <a:pt x="118491" y="510032"/>
                    <a:pt x="254508" y="510032"/>
                  </a:cubicBezTo>
                  <a:cubicBezTo>
                    <a:pt x="395986" y="510032"/>
                    <a:pt x="515620" y="397256"/>
                    <a:pt x="515620" y="255778"/>
                  </a:cubicBezTo>
                  <a:cubicBezTo>
                    <a:pt x="515620" y="114300"/>
                    <a:pt x="395986" y="0"/>
                    <a:pt x="254508" y="0"/>
                  </a:cubicBezTo>
                  <a:cubicBezTo>
                    <a:pt x="118491" y="0"/>
                    <a:pt x="0" y="114300"/>
                    <a:pt x="0" y="255778"/>
                  </a:cubicBezTo>
                  <a:close/>
                </a:path>
              </a:pathLst>
            </a:custGeom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1020" cy="535432"/>
            </a:xfrm>
            <a:custGeom>
              <a:avLst/>
              <a:gdLst/>
              <a:ahLst/>
              <a:cxnLst/>
              <a:rect r="r" b="b" t="t" l="l"/>
              <a:pathLst>
                <a:path h="535432" w="541020">
                  <a:moveTo>
                    <a:pt x="25400" y="268478"/>
                  </a:moveTo>
                  <a:cubicBezTo>
                    <a:pt x="25400" y="402717"/>
                    <a:pt x="137922" y="510032"/>
                    <a:pt x="267208" y="510032"/>
                  </a:cubicBezTo>
                  <a:lnTo>
                    <a:pt x="267208" y="522732"/>
                  </a:lnTo>
                  <a:lnTo>
                    <a:pt x="267208" y="510032"/>
                  </a:lnTo>
                  <a:cubicBezTo>
                    <a:pt x="402209" y="510032"/>
                    <a:pt x="515620" y="402463"/>
                    <a:pt x="515620" y="268478"/>
                  </a:cubicBezTo>
                  <a:lnTo>
                    <a:pt x="528320" y="268478"/>
                  </a:lnTo>
                  <a:lnTo>
                    <a:pt x="515620" y="268478"/>
                  </a:lnTo>
                  <a:cubicBezTo>
                    <a:pt x="515620" y="134366"/>
                    <a:pt x="402082" y="25400"/>
                    <a:pt x="267208" y="25400"/>
                  </a:cubicBezTo>
                  <a:lnTo>
                    <a:pt x="267208" y="12700"/>
                  </a:lnTo>
                  <a:lnTo>
                    <a:pt x="267208" y="25400"/>
                  </a:lnTo>
                  <a:cubicBezTo>
                    <a:pt x="138049" y="25400"/>
                    <a:pt x="25400" y="134112"/>
                    <a:pt x="25400" y="268478"/>
                  </a:cubicBezTo>
                  <a:lnTo>
                    <a:pt x="12700" y="268478"/>
                  </a:lnTo>
                  <a:lnTo>
                    <a:pt x="25400" y="268478"/>
                  </a:lnTo>
                  <a:moveTo>
                    <a:pt x="0" y="268478"/>
                  </a:moveTo>
                  <a:cubicBezTo>
                    <a:pt x="0" y="119888"/>
                    <a:pt x="124206" y="0"/>
                    <a:pt x="267208" y="0"/>
                  </a:cubicBezTo>
                  <a:cubicBezTo>
                    <a:pt x="415417" y="0"/>
                    <a:pt x="541020" y="119634"/>
                    <a:pt x="541020" y="268478"/>
                  </a:cubicBezTo>
                  <a:cubicBezTo>
                    <a:pt x="541020" y="417322"/>
                    <a:pt x="415290" y="535432"/>
                    <a:pt x="267208" y="535432"/>
                  </a:cubicBezTo>
                  <a:cubicBezTo>
                    <a:pt x="124333" y="535432"/>
                    <a:pt x="0" y="417195"/>
                    <a:pt x="0" y="268478"/>
                  </a:cubicBez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910000" y="2408097"/>
            <a:ext cx="719998" cy="992015"/>
          </a:xfrm>
          <a:custGeom>
            <a:avLst/>
            <a:gdLst/>
            <a:ahLst/>
            <a:cxnLst/>
            <a:rect r="r" b="b" t="t" l="l"/>
            <a:pathLst>
              <a:path h="992015" w="719998">
                <a:moveTo>
                  <a:pt x="0" y="0"/>
                </a:moveTo>
                <a:lnTo>
                  <a:pt x="719998" y="0"/>
                </a:lnTo>
                <a:lnTo>
                  <a:pt x="719998" y="992015"/>
                </a:lnTo>
                <a:lnTo>
                  <a:pt x="0" y="9920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31944" y="4197159"/>
            <a:ext cx="1156485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b="true" sz="6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METODOLOGIA ÁGIL - PHP</a:t>
            </a:r>
          </a:p>
        </p:txBody>
      </p:sp>
      <p:grpSp>
        <p:nvGrpSpPr>
          <p:cNvPr name="Group 11" id="11"/>
          <p:cNvGrpSpPr/>
          <p:nvPr/>
        </p:nvGrpSpPr>
        <p:grpSpPr>
          <a:xfrm rot="-5400000">
            <a:off x="1378150" y="4431068"/>
            <a:ext cx="714600" cy="618032"/>
            <a:chOff x="0" y="0"/>
            <a:chExt cx="952800" cy="8240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2754" cy="824103"/>
            </a:xfrm>
            <a:custGeom>
              <a:avLst/>
              <a:gdLst/>
              <a:ahLst/>
              <a:cxnLst/>
              <a:rect r="r" b="b" t="t" l="l"/>
              <a:pathLst>
                <a:path h="824103" w="952754">
                  <a:moveTo>
                    <a:pt x="0" y="0"/>
                  </a:moveTo>
                  <a:lnTo>
                    <a:pt x="952754" y="0"/>
                  </a:lnTo>
                  <a:lnTo>
                    <a:pt x="476377" y="824103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AutoShape 13" id="13"/>
          <p:cNvSpPr/>
          <p:nvPr/>
        </p:nvSpPr>
        <p:spPr>
          <a:xfrm rot="5394431">
            <a:off x="12243560" y="8644803"/>
            <a:ext cx="5347483" cy="0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2674203">
            <a:off x="13644905" y="5454660"/>
            <a:ext cx="1491162" cy="0"/>
          </a:xfrm>
          <a:prstGeom prst="line">
            <a:avLst/>
          </a:prstGeom>
          <a:ln cap="rnd" w="9525">
            <a:solidFill>
              <a:srgbClr val="00CA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3550537" y="4588909"/>
            <a:ext cx="391361" cy="395518"/>
          </a:xfrm>
          <a:custGeom>
            <a:avLst/>
            <a:gdLst/>
            <a:ahLst/>
            <a:cxnLst/>
            <a:rect r="r" b="b" t="t" l="l"/>
            <a:pathLst>
              <a:path h="395518" w="391361">
                <a:moveTo>
                  <a:pt x="0" y="0"/>
                </a:moveTo>
                <a:lnTo>
                  <a:pt x="391362" y="0"/>
                </a:lnTo>
                <a:lnTo>
                  <a:pt x="391362" y="395518"/>
                </a:lnTo>
                <a:lnTo>
                  <a:pt x="0" y="395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5542424" y="5945872"/>
            <a:ext cx="80112" cy="881760"/>
            <a:chOff x="0" y="0"/>
            <a:chExt cx="106816" cy="1175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7" y="0"/>
              <a:ext cx="106807" cy="1175512"/>
            </a:xfrm>
            <a:custGeom>
              <a:avLst/>
              <a:gdLst/>
              <a:ahLst/>
              <a:cxnLst/>
              <a:rect r="r" b="b" t="t" l="l"/>
              <a:pathLst>
                <a:path h="1175512" w="106807">
                  <a:moveTo>
                    <a:pt x="53340" y="127"/>
                  </a:moveTo>
                  <a:cubicBezTo>
                    <a:pt x="22225" y="127"/>
                    <a:pt x="0" y="22352"/>
                    <a:pt x="0" y="53340"/>
                  </a:cubicBezTo>
                  <a:lnTo>
                    <a:pt x="0" y="1122172"/>
                  </a:lnTo>
                  <a:cubicBezTo>
                    <a:pt x="0" y="1150620"/>
                    <a:pt x="22225" y="1175512"/>
                    <a:pt x="53340" y="1175512"/>
                  </a:cubicBezTo>
                  <a:cubicBezTo>
                    <a:pt x="81788" y="1175512"/>
                    <a:pt x="106807" y="1150493"/>
                    <a:pt x="106807" y="1122172"/>
                  </a:cubicBezTo>
                  <a:lnTo>
                    <a:pt x="106807" y="53340"/>
                  </a:lnTo>
                  <a:cubicBezTo>
                    <a:pt x="106807" y="22352"/>
                    <a:pt x="81788" y="0"/>
                    <a:pt x="53340" y="0"/>
                  </a:cubicBezTo>
                  <a:close/>
                </a:path>
              </a:pathLst>
            </a:custGeom>
            <a:solidFill>
              <a:srgbClr val="AFAFB6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4311401" y="8686007"/>
            <a:ext cx="105282" cy="969038"/>
          </a:xfrm>
          <a:custGeom>
            <a:avLst/>
            <a:gdLst/>
            <a:ahLst/>
            <a:cxnLst/>
            <a:rect r="r" b="b" t="t" l="l"/>
            <a:pathLst>
              <a:path h="969038" w="105282">
                <a:moveTo>
                  <a:pt x="0" y="0"/>
                </a:moveTo>
                <a:lnTo>
                  <a:pt x="105282" y="0"/>
                </a:lnTo>
                <a:lnTo>
                  <a:pt x="105282" y="969038"/>
                </a:lnTo>
                <a:lnTo>
                  <a:pt x="0" y="9690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858241" y="7217117"/>
            <a:ext cx="169250" cy="1674054"/>
          </a:xfrm>
          <a:custGeom>
            <a:avLst/>
            <a:gdLst/>
            <a:ahLst/>
            <a:cxnLst/>
            <a:rect r="r" b="b" t="t" l="l"/>
            <a:pathLst>
              <a:path h="1674054" w="169250">
                <a:moveTo>
                  <a:pt x="0" y="0"/>
                </a:moveTo>
                <a:lnTo>
                  <a:pt x="169250" y="0"/>
                </a:lnTo>
                <a:lnTo>
                  <a:pt x="169250" y="1674054"/>
                </a:lnTo>
                <a:lnTo>
                  <a:pt x="0" y="167405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0" id="20"/>
          <p:cNvSpPr/>
          <p:nvPr/>
        </p:nvSpPr>
        <p:spPr>
          <a:xfrm rot="5394431">
            <a:off x="9851976" y="-1726503"/>
            <a:ext cx="5347483" cy="0"/>
          </a:xfrm>
          <a:prstGeom prst="line">
            <a:avLst/>
          </a:prstGeom>
          <a:ln cap="rnd" w="9525">
            <a:solidFill>
              <a:srgbClr val="AFA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2674203">
            <a:off x="12306953" y="1463640"/>
            <a:ext cx="1491162" cy="0"/>
          </a:xfrm>
          <a:prstGeom prst="line">
            <a:avLst/>
          </a:prstGeom>
          <a:ln cap="rnd" w="9525">
            <a:solidFill>
              <a:srgbClr val="AFA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3501121" y="1933873"/>
            <a:ext cx="391361" cy="395518"/>
          </a:xfrm>
          <a:custGeom>
            <a:avLst/>
            <a:gdLst/>
            <a:ahLst/>
            <a:cxnLst/>
            <a:rect r="r" b="b" t="t" l="l"/>
            <a:pathLst>
              <a:path h="395518" w="391361">
                <a:moveTo>
                  <a:pt x="0" y="0"/>
                </a:moveTo>
                <a:lnTo>
                  <a:pt x="391362" y="0"/>
                </a:lnTo>
                <a:lnTo>
                  <a:pt x="391362" y="395518"/>
                </a:lnTo>
                <a:lnTo>
                  <a:pt x="0" y="39551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-5400000">
            <a:off x="16431750" y="1611096"/>
            <a:ext cx="80112" cy="881760"/>
            <a:chOff x="0" y="0"/>
            <a:chExt cx="106816" cy="1175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" y="0"/>
              <a:ext cx="106807" cy="1175512"/>
            </a:xfrm>
            <a:custGeom>
              <a:avLst/>
              <a:gdLst/>
              <a:ahLst/>
              <a:cxnLst/>
              <a:rect r="r" b="b" t="t" l="l"/>
              <a:pathLst>
                <a:path h="1175512" w="106807">
                  <a:moveTo>
                    <a:pt x="53340" y="127"/>
                  </a:moveTo>
                  <a:cubicBezTo>
                    <a:pt x="22225" y="127"/>
                    <a:pt x="0" y="22352"/>
                    <a:pt x="0" y="53340"/>
                  </a:cubicBezTo>
                  <a:lnTo>
                    <a:pt x="0" y="1122172"/>
                  </a:lnTo>
                  <a:cubicBezTo>
                    <a:pt x="0" y="1150620"/>
                    <a:pt x="22225" y="1175512"/>
                    <a:pt x="53340" y="1175512"/>
                  </a:cubicBezTo>
                  <a:cubicBezTo>
                    <a:pt x="81788" y="1175512"/>
                    <a:pt x="106807" y="1150493"/>
                    <a:pt x="106807" y="1122172"/>
                  </a:cubicBezTo>
                  <a:lnTo>
                    <a:pt x="106807" y="53340"/>
                  </a:lnTo>
                  <a:cubicBezTo>
                    <a:pt x="106807" y="22352"/>
                    <a:pt x="81788" y="0"/>
                    <a:pt x="53340" y="0"/>
                  </a:cubicBezTo>
                  <a:close/>
                </a:path>
              </a:pathLst>
            </a:custGeom>
            <a:solidFill>
              <a:srgbClr val="AFAFB6"/>
            </a:solidFill>
          </p:spPr>
        </p:sp>
      </p:grpSp>
      <p:sp>
        <p:nvSpPr>
          <p:cNvPr name="AutoShape 25" id="25"/>
          <p:cNvSpPr/>
          <p:nvPr/>
        </p:nvSpPr>
        <p:spPr>
          <a:xfrm rot="5391564">
            <a:off x="-4146113" y="610860"/>
            <a:ext cx="7763873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2674483">
            <a:off x="3277542" y="1374960"/>
            <a:ext cx="2172080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-10800000">
            <a:off x="5050387" y="2066279"/>
            <a:ext cx="405900" cy="401750"/>
            <a:chOff x="0" y="0"/>
            <a:chExt cx="541200" cy="53566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2700" y="12700"/>
              <a:ext cx="515620" cy="510032"/>
            </a:xfrm>
            <a:custGeom>
              <a:avLst/>
              <a:gdLst/>
              <a:ahLst/>
              <a:cxnLst/>
              <a:rect r="r" b="b" t="t" l="l"/>
              <a:pathLst>
                <a:path h="510032" w="515620">
                  <a:moveTo>
                    <a:pt x="0" y="255778"/>
                  </a:moveTo>
                  <a:cubicBezTo>
                    <a:pt x="0" y="397256"/>
                    <a:pt x="118491" y="510032"/>
                    <a:pt x="254508" y="510032"/>
                  </a:cubicBezTo>
                  <a:cubicBezTo>
                    <a:pt x="395986" y="510032"/>
                    <a:pt x="515620" y="397256"/>
                    <a:pt x="515620" y="255778"/>
                  </a:cubicBezTo>
                  <a:cubicBezTo>
                    <a:pt x="515620" y="114300"/>
                    <a:pt x="395986" y="0"/>
                    <a:pt x="254508" y="0"/>
                  </a:cubicBezTo>
                  <a:cubicBezTo>
                    <a:pt x="118491" y="0"/>
                    <a:pt x="0" y="114300"/>
                    <a:pt x="0" y="255778"/>
                  </a:cubicBezTo>
                  <a:close/>
                </a:path>
              </a:pathLst>
            </a:custGeom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1020" cy="535432"/>
            </a:xfrm>
            <a:custGeom>
              <a:avLst/>
              <a:gdLst/>
              <a:ahLst/>
              <a:cxnLst/>
              <a:rect r="r" b="b" t="t" l="l"/>
              <a:pathLst>
                <a:path h="535432" w="541020">
                  <a:moveTo>
                    <a:pt x="25400" y="268478"/>
                  </a:moveTo>
                  <a:cubicBezTo>
                    <a:pt x="25400" y="402717"/>
                    <a:pt x="137922" y="510032"/>
                    <a:pt x="267208" y="510032"/>
                  </a:cubicBezTo>
                  <a:lnTo>
                    <a:pt x="267208" y="522732"/>
                  </a:lnTo>
                  <a:lnTo>
                    <a:pt x="267208" y="510032"/>
                  </a:lnTo>
                  <a:cubicBezTo>
                    <a:pt x="402209" y="510032"/>
                    <a:pt x="515620" y="402463"/>
                    <a:pt x="515620" y="268478"/>
                  </a:cubicBezTo>
                  <a:lnTo>
                    <a:pt x="528320" y="268478"/>
                  </a:lnTo>
                  <a:lnTo>
                    <a:pt x="515620" y="268478"/>
                  </a:lnTo>
                  <a:cubicBezTo>
                    <a:pt x="515620" y="134366"/>
                    <a:pt x="402082" y="25400"/>
                    <a:pt x="267208" y="25400"/>
                  </a:cubicBezTo>
                  <a:lnTo>
                    <a:pt x="267208" y="12700"/>
                  </a:lnTo>
                  <a:lnTo>
                    <a:pt x="267208" y="25400"/>
                  </a:lnTo>
                  <a:cubicBezTo>
                    <a:pt x="138049" y="25400"/>
                    <a:pt x="25400" y="134112"/>
                    <a:pt x="25400" y="268478"/>
                  </a:cubicBezTo>
                  <a:lnTo>
                    <a:pt x="12700" y="268478"/>
                  </a:lnTo>
                  <a:lnTo>
                    <a:pt x="25400" y="268478"/>
                  </a:lnTo>
                  <a:moveTo>
                    <a:pt x="0" y="268478"/>
                  </a:moveTo>
                  <a:cubicBezTo>
                    <a:pt x="0" y="119888"/>
                    <a:pt x="124206" y="0"/>
                    <a:pt x="267208" y="0"/>
                  </a:cubicBezTo>
                  <a:cubicBezTo>
                    <a:pt x="415417" y="0"/>
                    <a:pt x="541020" y="119634"/>
                    <a:pt x="541020" y="268478"/>
                  </a:cubicBezTo>
                  <a:cubicBezTo>
                    <a:pt x="541020" y="417322"/>
                    <a:pt x="415290" y="535432"/>
                    <a:pt x="267208" y="535432"/>
                  </a:cubicBezTo>
                  <a:cubicBezTo>
                    <a:pt x="124333" y="535432"/>
                    <a:pt x="0" y="417195"/>
                    <a:pt x="0" y="268478"/>
                  </a:cubicBez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AutoShape 30" id="30"/>
          <p:cNvSpPr/>
          <p:nvPr/>
        </p:nvSpPr>
        <p:spPr>
          <a:xfrm rot="1125">
            <a:off x="6216427" y="-221270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1125">
            <a:off x="5942917" y="-221270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rot="1125">
            <a:off x="6079672" y="-221270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rot="1125">
            <a:off x="5806161" y="-221270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rot="1125">
            <a:off x="5669406" y="-221270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rot="1125">
            <a:off x="5532651" y="-221270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rot="1125">
            <a:off x="5395895" y="-221270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rot="1125">
            <a:off x="5259140" y="-221270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rot="1125">
            <a:off x="5122385" y="-221270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rot="1125">
            <a:off x="4985629" y="-221270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6649075" y="1636975"/>
            <a:ext cx="12962700" cy="1547500"/>
            <a:chOff x="0" y="0"/>
            <a:chExt cx="17283600" cy="206333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0"/>
              <a:ext cx="17270857" cy="2063369"/>
            </a:xfrm>
            <a:custGeom>
              <a:avLst/>
              <a:gdLst/>
              <a:ahLst/>
              <a:cxnLst/>
              <a:rect r="r" b="b" t="t" l="l"/>
              <a:pathLst>
                <a:path h="2063369" w="17270857">
                  <a:moveTo>
                    <a:pt x="0" y="0"/>
                  </a:moveTo>
                  <a:lnTo>
                    <a:pt x="5127371" y="0"/>
                  </a:lnTo>
                  <a:cubicBezTo>
                    <a:pt x="5130800" y="0"/>
                    <a:pt x="5133975" y="1397"/>
                    <a:pt x="5136388" y="3683"/>
                  </a:cubicBezTo>
                  <a:lnTo>
                    <a:pt x="7174357" y="2041652"/>
                  </a:lnTo>
                  <a:lnTo>
                    <a:pt x="7165339" y="2050669"/>
                  </a:lnTo>
                  <a:lnTo>
                    <a:pt x="7165339" y="2037969"/>
                  </a:lnTo>
                  <a:lnTo>
                    <a:pt x="11160379" y="2037969"/>
                  </a:lnTo>
                  <a:lnTo>
                    <a:pt x="11160379" y="2050669"/>
                  </a:lnTo>
                  <a:lnTo>
                    <a:pt x="11149330" y="2044319"/>
                  </a:lnTo>
                  <a:lnTo>
                    <a:pt x="11750167" y="1003681"/>
                  </a:lnTo>
                  <a:cubicBezTo>
                    <a:pt x="11752453" y="999744"/>
                    <a:pt x="11756644" y="997331"/>
                    <a:pt x="11761216" y="997331"/>
                  </a:cubicBezTo>
                  <a:lnTo>
                    <a:pt x="17258157" y="997331"/>
                  </a:lnTo>
                  <a:lnTo>
                    <a:pt x="17258157" y="1010031"/>
                  </a:lnTo>
                  <a:lnTo>
                    <a:pt x="17245457" y="1010031"/>
                  </a:lnTo>
                  <a:lnTo>
                    <a:pt x="17245457" y="740537"/>
                  </a:lnTo>
                  <a:lnTo>
                    <a:pt x="17270857" y="740537"/>
                  </a:lnTo>
                  <a:lnTo>
                    <a:pt x="17270857" y="1010031"/>
                  </a:lnTo>
                  <a:cubicBezTo>
                    <a:pt x="17270857" y="1017016"/>
                    <a:pt x="17265142" y="1022731"/>
                    <a:pt x="17258157" y="1022731"/>
                  </a:cubicBezTo>
                  <a:lnTo>
                    <a:pt x="11761216" y="1022731"/>
                  </a:lnTo>
                  <a:lnTo>
                    <a:pt x="11761216" y="1010031"/>
                  </a:lnTo>
                  <a:lnTo>
                    <a:pt x="11772265" y="1016381"/>
                  </a:lnTo>
                  <a:lnTo>
                    <a:pt x="11171428" y="2057019"/>
                  </a:lnTo>
                  <a:cubicBezTo>
                    <a:pt x="11169142" y="2060956"/>
                    <a:pt x="11164951" y="2063369"/>
                    <a:pt x="11160379" y="2063369"/>
                  </a:cubicBezTo>
                  <a:lnTo>
                    <a:pt x="7165340" y="2063369"/>
                  </a:lnTo>
                  <a:cubicBezTo>
                    <a:pt x="7161911" y="2063369"/>
                    <a:pt x="7158736" y="2061972"/>
                    <a:pt x="7156323" y="2059686"/>
                  </a:cubicBezTo>
                  <a:lnTo>
                    <a:pt x="5118354" y="21717"/>
                  </a:lnTo>
                  <a:lnTo>
                    <a:pt x="5127371" y="12700"/>
                  </a:lnTo>
                  <a:lnTo>
                    <a:pt x="5127371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818751" y="714792"/>
            <a:ext cx="456150" cy="394500"/>
            <a:chOff x="0" y="0"/>
            <a:chExt cx="608200" cy="52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267925" y="-232175"/>
            <a:ext cx="2179550" cy="7306150"/>
          </a:xfrm>
          <a:custGeom>
            <a:avLst/>
            <a:gdLst/>
            <a:ahLst/>
            <a:cxnLst/>
            <a:rect r="r" b="b" t="t" l="l"/>
            <a:pathLst>
              <a:path h="7306150" w="2179550">
                <a:moveTo>
                  <a:pt x="0" y="0"/>
                </a:moveTo>
                <a:lnTo>
                  <a:pt x="2179550" y="0"/>
                </a:lnTo>
                <a:lnTo>
                  <a:pt x="2179550" y="7306150"/>
                </a:lnTo>
                <a:lnTo>
                  <a:pt x="0" y="73061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71725" y="5299525"/>
            <a:ext cx="700300" cy="5211650"/>
            <a:chOff x="0" y="0"/>
            <a:chExt cx="933733" cy="69488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00"/>
              <a:ext cx="933704" cy="6923405"/>
            </a:xfrm>
            <a:custGeom>
              <a:avLst/>
              <a:gdLst/>
              <a:ahLst/>
              <a:cxnLst/>
              <a:rect r="r" b="b" t="t" l="l"/>
              <a:pathLst>
                <a:path h="6923405" w="933704">
                  <a:moveTo>
                    <a:pt x="908304" y="6923405"/>
                  </a:moveTo>
                  <a:lnTo>
                    <a:pt x="908304" y="5515864"/>
                  </a:lnTo>
                  <a:lnTo>
                    <a:pt x="921004" y="5515864"/>
                  </a:lnTo>
                  <a:lnTo>
                    <a:pt x="911987" y="5524881"/>
                  </a:lnTo>
                  <a:lnTo>
                    <a:pt x="3683" y="4616450"/>
                  </a:lnTo>
                  <a:cubicBezTo>
                    <a:pt x="1270" y="4614037"/>
                    <a:pt x="0" y="4610862"/>
                    <a:pt x="0" y="4607433"/>
                  </a:cubicBezTo>
                  <a:lnTo>
                    <a:pt x="0" y="0"/>
                  </a:lnTo>
                  <a:lnTo>
                    <a:pt x="25400" y="0"/>
                  </a:lnTo>
                  <a:lnTo>
                    <a:pt x="25400" y="4607433"/>
                  </a:lnTo>
                  <a:lnTo>
                    <a:pt x="12700" y="4607433"/>
                  </a:lnTo>
                  <a:lnTo>
                    <a:pt x="21717" y="4598416"/>
                  </a:lnTo>
                  <a:lnTo>
                    <a:pt x="930021" y="5506847"/>
                  </a:lnTo>
                  <a:cubicBezTo>
                    <a:pt x="932434" y="5509260"/>
                    <a:pt x="933704" y="5512435"/>
                    <a:pt x="933704" y="5515864"/>
                  </a:cubicBezTo>
                  <a:lnTo>
                    <a:pt x="933704" y="6923405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AutoShape 7" id="7"/>
          <p:cNvSpPr/>
          <p:nvPr/>
        </p:nvSpPr>
        <p:spPr>
          <a:xfrm rot="2838">
            <a:off x="-2380643" y="6908730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2838">
            <a:off x="-2380643" y="7045485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2838">
            <a:off x="-2380643" y="7182240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2838">
            <a:off x="-2380643" y="7318995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2838">
            <a:off x="-2380643" y="7455750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4796786" y="9393146"/>
            <a:ext cx="719998" cy="992015"/>
          </a:xfrm>
          <a:custGeom>
            <a:avLst/>
            <a:gdLst/>
            <a:ahLst/>
            <a:cxnLst/>
            <a:rect r="r" b="b" t="t" l="l"/>
            <a:pathLst>
              <a:path h="992015" w="719998">
                <a:moveTo>
                  <a:pt x="0" y="0"/>
                </a:moveTo>
                <a:lnTo>
                  <a:pt x="719998" y="0"/>
                </a:lnTo>
                <a:lnTo>
                  <a:pt x="719998" y="992015"/>
                </a:lnTo>
                <a:lnTo>
                  <a:pt x="0" y="9920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46826" y="2814252"/>
          <a:ext cx="15513830" cy="4259723"/>
        </p:xfrm>
        <a:graphic>
          <a:graphicData uri="http://schemas.openxmlformats.org/drawingml/2006/table">
            <a:tbl>
              <a:tblPr/>
              <a:tblGrid>
                <a:gridCol w="1716279"/>
                <a:gridCol w="2031219"/>
                <a:gridCol w="1678955"/>
                <a:gridCol w="2006096"/>
                <a:gridCol w="1590505"/>
                <a:gridCol w="1563341"/>
                <a:gridCol w="1749591"/>
                <a:gridCol w="1485092"/>
                <a:gridCol w="1692752"/>
              </a:tblGrid>
              <a:tr h="17660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Separação de tarefas:</a:t>
                      </a:r>
                      <a:endParaRPr lang="en-US" sz="1100"/>
                    </a:p>
                    <a:p>
                      <a:pPr algn="l">
                        <a:lnSpc>
                          <a:spcPts val="2800"/>
                        </a:lnSpc>
                      </a:pPr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História da linguagem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Criador(es)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Principais características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Empresas que utilizam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Curiosidades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Exemplos de código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Áreas de aplicação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Vantagens e desvantagens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936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João</a:t>
                      </a:r>
                      <a:r>
                        <a:rPr lang="en-US" sz="21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Marcelo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João M</a:t>
                      </a:r>
                      <a:r>
                        <a:rPr lang="en-US" sz="21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arcelo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Gabriel Costa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Pedro Henrique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Pedro Henrique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Gabriel C</a:t>
                      </a:r>
                      <a:r>
                        <a:rPr lang="en-US" sz="21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osta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Danil</a:t>
                      </a:r>
                      <a:r>
                        <a:rPr lang="en-US" sz="21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o Marques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Danilo Marques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E24"/>
                    </a:solidFill>
                  </a:tcPr>
                </a:tc>
              </a:tr>
            </a:tbl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1335506" y="497704"/>
            <a:ext cx="1522515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Integrantes: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2703" y="5269529"/>
            <a:ext cx="18011364" cy="3705826"/>
          </a:xfrm>
          <a:custGeom>
            <a:avLst/>
            <a:gdLst/>
            <a:ahLst/>
            <a:cxnLst/>
            <a:rect r="r" b="b" t="t" l="l"/>
            <a:pathLst>
              <a:path h="3705826" w="18011364">
                <a:moveTo>
                  <a:pt x="0" y="0"/>
                </a:moveTo>
                <a:lnTo>
                  <a:pt x="18011364" y="0"/>
                </a:lnTo>
                <a:lnTo>
                  <a:pt x="18011364" y="3705826"/>
                </a:lnTo>
                <a:lnTo>
                  <a:pt x="0" y="3705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96741" y="5636856"/>
            <a:ext cx="12300792" cy="2971172"/>
          </a:xfrm>
          <a:custGeom>
            <a:avLst/>
            <a:gdLst/>
            <a:ahLst/>
            <a:cxnLst/>
            <a:rect r="r" b="b" t="t" l="l"/>
            <a:pathLst>
              <a:path h="2971172" w="12300792">
                <a:moveTo>
                  <a:pt x="0" y="0"/>
                </a:moveTo>
                <a:lnTo>
                  <a:pt x="12300792" y="0"/>
                </a:lnTo>
                <a:lnTo>
                  <a:pt x="12300792" y="2971172"/>
                </a:lnTo>
                <a:lnTo>
                  <a:pt x="0" y="29711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10800000">
            <a:off x="-2772143" y="9377149"/>
            <a:ext cx="7621384" cy="1158918"/>
            <a:chOff x="0" y="0"/>
            <a:chExt cx="10161845" cy="15452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683" y="3683"/>
              <a:ext cx="10154412" cy="1541526"/>
            </a:xfrm>
            <a:custGeom>
              <a:avLst/>
              <a:gdLst/>
              <a:ahLst/>
              <a:cxnLst/>
              <a:rect r="r" b="b" t="t" l="l"/>
              <a:pathLst>
                <a:path h="1541526" w="10154412">
                  <a:moveTo>
                    <a:pt x="10154412" y="18034"/>
                  </a:moveTo>
                  <a:lnTo>
                    <a:pt x="8634603" y="1537843"/>
                  </a:lnTo>
                  <a:cubicBezTo>
                    <a:pt x="8632190" y="1540256"/>
                    <a:pt x="8629015" y="1541526"/>
                    <a:pt x="8625586" y="1541526"/>
                  </a:cubicBezTo>
                  <a:lnTo>
                    <a:pt x="2857627" y="1541526"/>
                  </a:lnTo>
                  <a:cubicBezTo>
                    <a:pt x="2854198" y="1541526"/>
                    <a:pt x="2851023" y="1540129"/>
                    <a:pt x="2848610" y="1537843"/>
                  </a:cubicBezTo>
                  <a:lnTo>
                    <a:pt x="2173732" y="862838"/>
                  </a:lnTo>
                  <a:lnTo>
                    <a:pt x="2182749" y="853821"/>
                  </a:lnTo>
                  <a:lnTo>
                    <a:pt x="2182749" y="866521"/>
                  </a:lnTo>
                  <a:lnTo>
                    <a:pt x="724154" y="866521"/>
                  </a:lnTo>
                  <a:cubicBezTo>
                    <a:pt x="720725" y="866521"/>
                    <a:pt x="717550" y="865124"/>
                    <a:pt x="715137" y="862838"/>
                  </a:cubicBezTo>
                  <a:lnTo>
                    <a:pt x="0" y="147828"/>
                  </a:lnTo>
                  <a:lnTo>
                    <a:pt x="17907" y="129921"/>
                  </a:lnTo>
                  <a:lnTo>
                    <a:pt x="733044" y="844931"/>
                  </a:lnTo>
                  <a:lnTo>
                    <a:pt x="724027" y="853948"/>
                  </a:lnTo>
                  <a:lnTo>
                    <a:pt x="724027" y="841248"/>
                  </a:lnTo>
                  <a:lnTo>
                    <a:pt x="2182749" y="841248"/>
                  </a:lnTo>
                  <a:cubicBezTo>
                    <a:pt x="2186178" y="841248"/>
                    <a:pt x="2189353" y="842645"/>
                    <a:pt x="2191766" y="844931"/>
                  </a:cubicBezTo>
                  <a:lnTo>
                    <a:pt x="2866644" y="1519809"/>
                  </a:lnTo>
                  <a:lnTo>
                    <a:pt x="2857627" y="1528826"/>
                  </a:lnTo>
                  <a:lnTo>
                    <a:pt x="2857627" y="1516126"/>
                  </a:lnTo>
                  <a:lnTo>
                    <a:pt x="8625586" y="1516126"/>
                  </a:lnTo>
                  <a:lnTo>
                    <a:pt x="8625586" y="1528826"/>
                  </a:lnTo>
                  <a:lnTo>
                    <a:pt x="8616568" y="1519809"/>
                  </a:lnTo>
                  <a:lnTo>
                    <a:pt x="10136505" y="0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448577" y="-3759875"/>
            <a:ext cx="1848956" cy="8133361"/>
          </a:xfrm>
          <a:custGeom>
            <a:avLst/>
            <a:gdLst/>
            <a:ahLst/>
            <a:cxnLst/>
            <a:rect r="r" b="b" t="t" l="l"/>
            <a:pathLst>
              <a:path h="8133361" w="1848956">
                <a:moveTo>
                  <a:pt x="0" y="0"/>
                </a:moveTo>
                <a:lnTo>
                  <a:pt x="1848956" y="0"/>
                </a:lnTo>
                <a:lnTo>
                  <a:pt x="1848956" y="8133361"/>
                </a:lnTo>
                <a:lnTo>
                  <a:pt x="0" y="81333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rot="4500">
            <a:off x="17268149" y="2269858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00">
            <a:off x="17268149" y="2133103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4500">
            <a:off x="17268149" y="1996348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4500">
            <a:off x="17268149" y="1859593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500">
            <a:off x="17268149" y="1722838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31425" y="962425"/>
            <a:ext cx="1522515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Historia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509100" y="2384784"/>
            <a:ext cx="1097400" cy="1097400"/>
            <a:chOff x="0" y="0"/>
            <a:chExt cx="1463200" cy="1463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167" cy="1463167"/>
            </a:xfrm>
            <a:custGeom>
              <a:avLst/>
              <a:gdLst/>
              <a:ahLst/>
              <a:cxnLst/>
              <a:rect r="r" b="b" t="t" l="l"/>
              <a:pathLst>
                <a:path h="1463167" w="1463167">
                  <a:moveTo>
                    <a:pt x="0" y="0"/>
                  </a:moveTo>
                  <a:lnTo>
                    <a:pt x="1463167" y="0"/>
                  </a:lnTo>
                  <a:lnTo>
                    <a:pt x="1463167" y="1463167"/>
                  </a:lnTo>
                  <a:lnTo>
                    <a:pt x="0" y="1463167"/>
                  </a:lnTo>
                  <a:close/>
                </a:path>
              </a:pathLst>
            </a:custGeom>
            <a:solidFill>
              <a:srgbClr val="110E2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45495" y="2838450"/>
            <a:ext cx="14959520" cy="459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 PHP nasceu em 1994 quando Rasmus Lerdorf criou scripts em C para monitorar as visitas ao seu currículo online, lançando o pacote como PHP/FI em 1995 [1, 2]. A ferramenta não tinha a intenção de ser uma linguagem formal, servindo apenas como um utilitário para páginas estáticas [2].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 grande transformação ocorreu em 1997, quando os estudantes Andi Gutmans e Zeev Suraski encontraram limitações no sistema ao desenvolverem um e-commerce [3]. Eles cooperaram com Lerdorf para reescrever o núcleo do sistema, gerando o PHP 3 em 1998 [1]. Essa versão mudou o acrônimo para PHP: Hypertext Preprocessor e adicionou suporte a múltiplos bancos de dados [1].</a:t>
            </a:r>
          </a:p>
          <a:p>
            <a:pPr algn="l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2703" y="5269529"/>
            <a:ext cx="18011364" cy="3705826"/>
          </a:xfrm>
          <a:custGeom>
            <a:avLst/>
            <a:gdLst/>
            <a:ahLst/>
            <a:cxnLst/>
            <a:rect r="r" b="b" t="t" l="l"/>
            <a:pathLst>
              <a:path h="3705826" w="18011364">
                <a:moveTo>
                  <a:pt x="0" y="0"/>
                </a:moveTo>
                <a:lnTo>
                  <a:pt x="18011364" y="0"/>
                </a:lnTo>
                <a:lnTo>
                  <a:pt x="18011364" y="3705826"/>
                </a:lnTo>
                <a:lnTo>
                  <a:pt x="0" y="3705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96741" y="5636856"/>
            <a:ext cx="12300792" cy="2971172"/>
          </a:xfrm>
          <a:custGeom>
            <a:avLst/>
            <a:gdLst/>
            <a:ahLst/>
            <a:cxnLst/>
            <a:rect r="r" b="b" t="t" l="l"/>
            <a:pathLst>
              <a:path h="2971172" w="12300792">
                <a:moveTo>
                  <a:pt x="0" y="0"/>
                </a:moveTo>
                <a:lnTo>
                  <a:pt x="12300792" y="0"/>
                </a:lnTo>
                <a:lnTo>
                  <a:pt x="12300792" y="2971172"/>
                </a:lnTo>
                <a:lnTo>
                  <a:pt x="0" y="29711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10800000">
            <a:off x="-2772143" y="9377149"/>
            <a:ext cx="7621384" cy="1158918"/>
            <a:chOff x="0" y="0"/>
            <a:chExt cx="10161845" cy="15452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683" y="3683"/>
              <a:ext cx="10154412" cy="1541526"/>
            </a:xfrm>
            <a:custGeom>
              <a:avLst/>
              <a:gdLst/>
              <a:ahLst/>
              <a:cxnLst/>
              <a:rect r="r" b="b" t="t" l="l"/>
              <a:pathLst>
                <a:path h="1541526" w="10154412">
                  <a:moveTo>
                    <a:pt x="10154412" y="18034"/>
                  </a:moveTo>
                  <a:lnTo>
                    <a:pt x="8634603" y="1537843"/>
                  </a:lnTo>
                  <a:cubicBezTo>
                    <a:pt x="8632190" y="1540256"/>
                    <a:pt x="8629015" y="1541526"/>
                    <a:pt x="8625586" y="1541526"/>
                  </a:cubicBezTo>
                  <a:lnTo>
                    <a:pt x="2857627" y="1541526"/>
                  </a:lnTo>
                  <a:cubicBezTo>
                    <a:pt x="2854198" y="1541526"/>
                    <a:pt x="2851023" y="1540129"/>
                    <a:pt x="2848610" y="1537843"/>
                  </a:cubicBezTo>
                  <a:lnTo>
                    <a:pt x="2173732" y="862838"/>
                  </a:lnTo>
                  <a:lnTo>
                    <a:pt x="2182749" y="853821"/>
                  </a:lnTo>
                  <a:lnTo>
                    <a:pt x="2182749" y="866521"/>
                  </a:lnTo>
                  <a:lnTo>
                    <a:pt x="724154" y="866521"/>
                  </a:lnTo>
                  <a:cubicBezTo>
                    <a:pt x="720725" y="866521"/>
                    <a:pt x="717550" y="865124"/>
                    <a:pt x="715137" y="862838"/>
                  </a:cubicBezTo>
                  <a:lnTo>
                    <a:pt x="0" y="147828"/>
                  </a:lnTo>
                  <a:lnTo>
                    <a:pt x="17907" y="129921"/>
                  </a:lnTo>
                  <a:lnTo>
                    <a:pt x="733044" y="844931"/>
                  </a:lnTo>
                  <a:lnTo>
                    <a:pt x="724027" y="853948"/>
                  </a:lnTo>
                  <a:lnTo>
                    <a:pt x="724027" y="841248"/>
                  </a:lnTo>
                  <a:lnTo>
                    <a:pt x="2182749" y="841248"/>
                  </a:lnTo>
                  <a:cubicBezTo>
                    <a:pt x="2186178" y="841248"/>
                    <a:pt x="2189353" y="842645"/>
                    <a:pt x="2191766" y="844931"/>
                  </a:cubicBezTo>
                  <a:lnTo>
                    <a:pt x="2866644" y="1519809"/>
                  </a:lnTo>
                  <a:lnTo>
                    <a:pt x="2857627" y="1528826"/>
                  </a:lnTo>
                  <a:lnTo>
                    <a:pt x="2857627" y="1516126"/>
                  </a:lnTo>
                  <a:lnTo>
                    <a:pt x="8625586" y="1516126"/>
                  </a:lnTo>
                  <a:lnTo>
                    <a:pt x="8625586" y="1528826"/>
                  </a:lnTo>
                  <a:lnTo>
                    <a:pt x="8616568" y="1519809"/>
                  </a:lnTo>
                  <a:lnTo>
                    <a:pt x="10136505" y="0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448577" y="-3759875"/>
            <a:ext cx="1848956" cy="8133361"/>
          </a:xfrm>
          <a:custGeom>
            <a:avLst/>
            <a:gdLst/>
            <a:ahLst/>
            <a:cxnLst/>
            <a:rect r="r" b="b" t="t" l="l"/>
            <a:pathLst>
              <a:path h="8133361" w="1848956">
                <a:moveTo>
                  <a:pt x="0" y="0"/>
                </a:moveTo>
                <a:lnTo>
                  <a:pt x="1848956" y="0"/>
                </a:lnTo>
                <a:lnTo>
                  <a:pt x="1848956" y="8133361"/>
                </a:lnTo>
                <a:lnTo>
                  <a:pt x="0" y="81333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rot="4500">
            <a:off x="17268149" y="2269858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00">
            <a:off x="17268149" y="2133103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4500">
            <a:off x="17268149" y="1996348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4500">
            <a:off x="17268149" y="1859593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500">
            <a:off x="17268149" y="1722838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31425" y="962425"/>
            <a:ext cx="1522515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Historia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509100" y="2384784"/>
            <a:ext cx="1097400" cy="1097400"/>
            <a:chOff x="0" y="0"/>
            <a:chExt cx="1463200" cy="1463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167" cy="1463167"/>
            </a:xfrm>
            <a:custGeom>
              <a:avLst/>
              <a:gdLst/>
              <a:ahLst/>
              <a:cxnLst/>
              <a:rect r="r" b="b" t="t" l="l"/>
              <a:pathLst>
                <a:path h="1463167" w="1463167">
                  <a:moveTo>
                    <a:pt x="0" y="0"/>
                  </a:moveTo>
                  <a:lnTo>
                    <a:pt x="1463167" y="0"/>
                  </a:lnTo>
                  <a:lnTo>
                    <a:pt x="1463167" y="1463167"/>
                  </a:lnTo>
                  <a:lnTo>
                    <a:pt x="0" y="1463167"/>
                  </a:lnTo>
                  <a:close/>
                </a:path>
              </a:pathLst>
            </a:custGeom>
            <a:solidFill>
              <a:srgbClr val="110E2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45495" y="2735879"/>
            <a:ext cx="14959520" cy="504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dupla fundou a Zend Technologies e desenvolveu o Zend Engine [3]. O PHP 4 (2000) introduziu esse motor, otimizando a performance dentro do ecossistema LAMP [1, 5]. Já o PHP 5 (2004) trouxe maturidade com um modelo robusto de Programação Orientada a Objetos e a extensão PDO, impulsionando plataformas como o WordPress [1].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Após o cancelamento do PHP 6 devido a problemas na implementação de Unicode, a comunidade lançou o PHP 7 em 2015 [1]. Essa versão dobrou a velocidade de execução da linguagem e trouxe o recurso de tipagem estrita [1]. Em 2020, o PHP 8 consolidou sua modernidade ao introduzir a compilação JIT (Just-In-Time) e melhorias sintáticas, mantendo a linguagem no topo do back-end da internet [4].</a:t>
            </a:r>
          </a:p>
          <a:p>
            <a:pPr algn="l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500">
            <a:off x="17745293" y="226183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4500">
            <a:off x="17745293" y="2398585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4500">
            <a:off x="17745293" y="253534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4500">
            <a:off x="17745293" y="2672095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00">
            <a:off x="17745293" y="280885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6181275" y="-672725"/>
            <a:ext cx="2959214" cy="4683984"/>
            <a:chOff x="0" y="0"/>
            <a:chExt cx="3945619" cy="62453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2700"/>
              <a:ext cx="3945519" cy="6226302"/>
            </a:xfrm>
            <a:custGeom>
              <a:avLst/>
              <a:gdLst/>
              <a:ahLst/>
              <a:cxnLst/>
              <a:rect r="r" b="b" t="t" l="l"/>
              <a:pathLst>
                <a:path h="6226302" w="3945519">
                  <a:moveTo>
                    <a:pt x="25400" y="0"/>
                  </a:moveTo>
                  <a:lnTo>
                    <a:pt x="25400" y="1426591"/>
                  </a:lnTo>
                  <a:lnTo>
                    <a:pt x="12700" y="1426591"/>
                  </a:lnTo>
                  <a:lnTo>
                    <a:pt x="21717" y="1417574"/>
                  </a:lnTo>
                  <a:lnTo>
                    <a:pt x="2087372" y="3483229"/>
                  </a:lnTo>
                  <a:cubicBezTo>
                    <a:pt x="2089785" y="3485642"/>
                    <a:pt x="2091055" y="3488817"/>
                    <a:pt x="2091055" y="3492246"/>
                  </a:cubicBezTo>
                  <a:lnTo>
                    <a:pt x="2091055" y="4941697"/>
                  </a:lnTo>
                  <a:lnTo>
                    <a:pt x="2078355" y="4941697"/>
                  </a:lnTo>
                  <a:lnTo>
                    <a:pt x="2084705" y="4930648"/>
                  </a:lnTo>
                  <a:lnTo>
                    <a:pt x="3939159" y="6001385"/>
                  </a:lnTo>
                  <a:cubicBezTo>
                    <a:pt x="3945255" y="6004941"/>
                    <a:pt x="3947287" y="6012688"/>
                    <a:pt x="3943858" y="6018784"/>
                  </a:cubicBezTo>
                  <a:lnTo>
                    <a:pt x="3824097" y="6226302"/>
                  </a:lnTo>
                  <a:lnTo>
                    <a:pt x="3802126" y="6213602"/>
                  </a:lnTo>
                  <a:lnTo>
                    <a:pt x="3921887" y="6006084"/>
                  </a:lnTo>
                  <a:lnTo>
                    <a:pt x="3932936" y="6012434"/>
                  </a:lnTo>
                  <a:lnTo>
                    <a:pt x="3926586" y="6023483"/>
                  </a:lnTo>
                  <a:lnTo>
                    <a:pt x="2072132" y="4952746"/>
                  </a:lnTo>
                  <a:cubicBezTo>
                    <a:pt x="2068195" y="4950460"/>
                    <a:pt x="2065782" y="4946269"/>
                    <a:pt x="2065782" y="4941697"/>
                  </a:cubicBezTo>
                  <a:lnTo>
                    <a:pt x="2065782" y="3492246"/>
                  </a:lnTo>
                  <a:lnTo>
                    <a:pt x="2078482" y="3492246"/>
                  </a:lnTo>
                  <a:lnTo>
                    <a:pt x="2069465" y="3501263"/>
                  </a:lnTo>
                  <a:lnTo>
                    <a:pt x="3683" y="1435608"/>
                  </a:lnTo>
                  <a:cubicBezTo>
                    <a:pt x="1270" y="1433195"/>
                    <a:pt x="0" y="1430020"/>
                    <a:pt x="0" y="142659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7298691" y="361705"/>
            <a:ext cx="992015" cy="719998"/>
          </a:xfrm>
          <a:custGeom>
            <a:avLst/>
            <a:gdLst/>
            <a:ahLst/>
            <a:cxnLst/>
            <a:rect r="r" b="b" t="t" l="l"/>
            <a:pathLst>
              <a:path h="719998" w="992015">
                <a:moveTo>
                  <a:pt x="0" y="0"/>
                </a:moveTo>
                <a:lnTo>
                  <a:pt x="992015" y="0"/>
                </a:lnTo>
                <a:lnTo>
                  <a:pt x="992015" y="719998"/>
                </a:lnTo>
                <a:lnTo>
                  <a:pt x="0" y="7199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5400000">
            <a:off x="-392875" y="6952875"/>
            <a:ext cx="1759850" cy="5720600"/>
            <a:chOff x="0" y="0"/>
            <a:chExt cx="2346467" cy="76274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12700"/>
              <a:ext cx="2346452" cy="7602093"/>
            </a:xfrm>
            <a:custGeom>
              <a:avLst/>
              <a:gdLst/>
              <a:ahLst/>
              <a:cxnLst/>
              <a:rect r="r" b="b" t="t" l="l"/>
              <a:pathLst>
                <a:path h="7602093" w="2346452">
                  <a:moveTo>
                    <a:pt x="1246632" y="0"/>
                  </a:moveTo>
                  <a:lnTo>
                    <a:pt x="1246632" y="663194"/>
                  </a:lnTo>
                  <a:cubicBezTo>
                    <a:pt x="1246632" y="666623"/>
                    <a:pt x="1245235" y="669798"/>
                    <a:pt x="1242949" y="672211"/>
                  </a:cubicBezTo>
                  <a:lnTo>
                    <a:pt x="21717" y="1893316"/>
                  </a:lnTo>
                  <a:lnTo>
                    <a:pt x="12700" y="1884299"/>
                  </a:lnTo>
                  <a:lnTo>
                    <a:pt x="25400" y="1884299"/>
                  </a:lnTo>
                  <a:lnTo>
                    <a:pt x="25400" y="3202559"/>
                  </a:lnTo>
                  <a:lnTo>
                    <a:pt x="12700" y="3202559"/>
                  </a:lnTo>
                  <a:lnTo>
                    <a:pt x="21717" y="3193542"/>
                  </a:lnTo>
                  <a:lnTo>
                    <a:pt x="737489" y="3909314"/>
                  </a:lnTo>
                  <a:lnTo>
                    <a:pt x="728472" y="3918331"/>
                  </a:lnTo>
                  <a:lnTo>
                    <a:pt x="728472" y="3905631"/>
                  </a:lnTo>
                  <a:lnTo>
                    <a:pt x="2333752" y="3905631"/>
                  </a:lnTo>
                  <a:cubicBezTo>
                    <a:pt x="2340737" y="3905631"/>
                    <a:pt x="2346452" y="3911346"/>
                    <a:pt x="2346452" y="3918331"/>
                  </a:cubicBezTo>
                  <a:lnTo>
                    <a:pt x="2346452" y="7602093"/>
                  </a:lnTo>
                  <a:lnTo>
                    <a:pt x="2321052" y="7602093"/>
                  </a:lnTo>
                  <a:lnTo>
                    <a:pt x="2321052" y="3918331"/>
                  </a:lnTo>
                  <a:lnTo>
                    <a:pt x="2333752" y="3918331"/>
                  </a:lnTo>
                  <a:lnTo>
                    <a:pt x="2333752" y="3931031"/>
                  </a:lnTo>
                  <a:lnTo>
                    <a:pt x="728472" y="3931031"/>
                  </a:lnTo>
                  <a:cubicBezTo>
                    <a:pt x="725043" y="3931031"/>
                    <a:pt x="721868" y="3929634"/>
                    <a:pt x="719455" y="3927348"/>
                  </a:cubicBezTo>
                  <a:lnTo>
                    <a:pt x="3683" y="3211576"/>
                  </a:lnTo>
                  <a:cubicBezTo>
                    <a:pt x="1270" y="3209163"/>
                    <a:pt x="0" y="3205988"/>
                    <a:pt x="0" y="3202559"/>
                  </a:cubicBezTo>
                  <a:lnTo>
                    <a:pt x="0" y="1884299"/>
                  </a:lnTo>
                  <a:cubicBezTo>
                    <a:pt x="0" y="1880870"/>
                    <a:pt x="1397" y="1877695"/>
                    <a:pt x="3683" y="1875282"/>
                  </a:cubicBezTo>
                  <a:lnTo>
                    <a:pt x="1224915" y="654177"/>
                  </a:lnTo>
                  <a:lnTo>
                    <a:pt x="1233932" y="663194"/>
                  </a:lnTo>
                  <a:lnTo>
                    <a:pt x="1221232" y="663194"/>
                  </a:lnTo>
                  <a:lnTo>
                    <a:pt x="1221232" y="0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51450" y="7953496"/>
            <a:ext cx="719998" cy="992015"/>
          </a:xfrm>
          <a:custGeom>
            <a:avLst/>
            <a:gdLst/>
            <a:ahLst/>
            <a:cxnLst/>
            <a:rect r="r" b="b" t="t" l="l"/>
            <a:pathLst>
              <a:path h="992015" w="719998">
                <a:moveTo>
                  <a:pt x="0" y="0"/>
                </a:moveTo>
                <a:lnTo>
                  <a:pt x="719998" y="0"/>
                </a:lnTo>
                <a:lnTo>
                  <a:pt x="719998" y="992015"/>
                </a:lnTo>
                <a:lnTo>
                  <a:pt x="0" y="9920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rot="4500">
            <a:off x="-1554957" y="960103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4500">
            <a:off x="-1554957" y="9737785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4500">
            <a:off x="-1554957" y="987454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4500">
            <a:off x="-1554957" y="10011295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4500">
            <a:off x="-1554957" y="1014805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-285224" y="-337328"/>
            <a:ext cx="15838060" cy="5777936"/>
          </a:xfrm>
          <a:custGeom>
            <a:avLst/>
            <a:gdLst/>
            <a:ahLst/>
            <a:cxnLst/>
            <a:rect r="r" b="b" t="t" l="l"/>
            <a:pathLst>
              <a:path h="5777936" w="15838060">
                <a:moveTo>
                  <a:pt x="0" y="0"/>
                </a:moveTo>
                <a:lnTo>
                  <a:pt x="15838060" y="0"/>
                </a:lnTo>
                <a:lnTo>
                  <a:pt x="15838060" y="5777936"/>
                </a:lnTo>
                <a:lnTo>
                  <a:pt x="0" y="57779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1852680" y="2533200"/>
            <a:ext cx="5942019" cy="4456514"/>
          </a:xfrm>
          <a:custGeom>
            <a:avLst/>
            <a:gdLst/>
            <a:ahLst/>
            <a:cxnLst/>
            <a:rect r="r" b="b" t="t" l="l"/>
            <a:pathLst>
              <a:path h="4456514" w="5942019">
                <a:moveTo>
                  <a:pt x="0" y="0"/>
                </a:moveTo>
                <a:lnTo>
                  <a:pt x="5942019" y="0"/>
                </a:lnTo>
                <a:lnTo>
                  <a:pt x="5942019" y="4456514"/>
                </a:lnTo>
                <a:lnTo>
                  <a:pt x="0" y="4456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423348" y="2533200"/>
            <a:ext cx="2813493" cy="4219365"/>
          </a:xfrm>
          <a:custGeom>
            <a:avLst/>
            <a:gdLst/>
            <a:ahLst/>
            <a:cxnLst/>
            <a:rect r="r" b="b" t="t" l="l"/>
            <a:pathLst>
              <a:path h="4219365" w="2813493">
                <a:moveTo>
                  <a:pt x="0" y="0"/>
                </a:moveTo>
                <a:lnTo>
                  <a:pt x="2813493" y="0"/>
                </a:lnTo>
                <a:lnTo>
                  <a:pt x="2813493" y="4219365"/>
                </a:lnTo>
                <a:lnTo>
                  <a:pt x="0" y="421936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576" t="0" r="-3576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28700" y="2533200"/>
            <a:ext cx="4364018" cy="4347168"/>
          </a:xfrm>
          <a:custGeom>
            <a:avLst/>
            <a:gdLst/>
            <a:ahLst/>
            <a:cxnLst/>
            <a:rect r="r" b="b" t="t" l="l"/>
            <a:pathLst>
              <a:path h="4347168" w="4364018">
                <a:moveTo>
                  <a:pt x="0" y="0"/>
                </a:moveTo>
                <a:lnTo>
                  <a:pt x="4364018" y="0"/>
                </a:lnTo>
                <a:lnTo>
                  <a:pt x="4364018" y="4347168"/>
                </a:lnTo>
                <a:lnTo>
                  <a:pt x="0" y="434716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31425" y="962425"/>
            <a:ext cx="1522515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Criador(es)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29561" y="6923039"/>
            <a:ext cx="31882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Rasmus Lerd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orf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23348" y="6923039"/>
            <a:ext cx="286857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Andi Gutmans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5495" y="6923039"/>
            <a:ext cx="376924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Zeev Su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raski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40528" y="3426805"/>
            <a:ext cx="992015" cy="719998"/>
          </a:xfrm>
          <a:custGeom>
            <a:avLst/>
            <a:gdLst/>
            <a:ahLst/>
            <a:cxnLst/>
            <a:rect r="r" b="b" t="t" l="l"/>
            <a:pathLst>
              <a:path h="719998" w="992015">
                <a:moveTo>
                  <a:pt x="0" y="0"/>
                </a:moveTo>
                <a:lnTo>
                  <a:pt x="992015" y="0"/>
                </a:lnTo>
                <a:lnTo>
                  <a:pt x="992015" y="719998"/>
                </a:lnTo>
                <a:lnTo>
                  <a:pt x="0" y="7199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433675" y="-123525"/>
            <a:ext cx="2074250" cy="6775950"/>
            <a:chOff x="0" y="0"/>
            <a:chExt cx="2765667" cy="9034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2700"/>
              <a:ext cx="2759329" cy="9020175"/>
            </a:xfrm>
            <a:custGeom>
              <a:avLst/>
              <a:gdLst/>
              <a:ahLst/>
              <a:cxnLst/>
              <a:rect r="r" b="b" t="t" l="l"/>
              <a:pathLst>
                <a:path h="9020175" w="2759329">
                  <a:moveTo>
                    <a:pt x="2746629" y="9020175"/>
                  </a:moveTo>
                  <a:lnTo>
                    <a:pt x="6350" y="7438136"/>
                  </a:lnTo>
                  <a:cubicBezTo>
                    <a:pt x="2413" y="7435850"/>
                    <a:pt x="0" y="7431659"/>
                    <a:pt x="0" y="7427087"/>
                  </a:cubicBezTo>
                  <a:lnTo>
                    <a:pt x="0" y="3833368"/>
                  </a:lnTo>
                  <a:cubicBezTo>
                    <a:pt x="0" y="3829939"/>
                    <a:pt x="1397" y="3826764"/>
                    <a:pt x="3683" y="3824351"/>
                  </a:cubicBezTo>
                  <a:lnTo>
                    <a:pt x="831977" y="2996057"/>
                  </a:lnTo>
                  <a:lnTo>
                    <a:pt x="840994" y="3005074"/>
                  </a:lnTo>
                  <a:lnTo>
                    <a:pt x="828294" y="3005074"/>
                  </a:lnTo>
                  <a:lnTo>
                    <a:pt x="828294" y="0"/>
                  </a:lnTo>
                  <a:lnTo>
                    <a:pt x="853694" y="0"/>
                  </a:lnTo>
                  <a:lnTo>
                    <a:pt x="853694" y="3005074"/>
                  </a:lnTo>
                  <a:cubicBezTo>
                    <a:pt x="853694" y="3008503"/>
                    <a:pt x="852297" y="3011678"/>
                    <a:pt x="850011" y="3014091"/>
                  </a:cubicBezTo>
                  <a:lnTo>
                    <a:pt x="21717" y="3842258"/>
                  </a:lnTo>
                  <a:lnTo>
                    <a:pt x="12700" y="3833368"/>
                  </a:lnTo>
                  <a:lnTo>
                    <a:pt x="25400" y="3833368"/>
                  </a:lnTo>
                  <a:lnTo>
                    <a:pt x="25400" y="7427087"/>
                  </a:lnTo>
                  <a:lnTo>
                    <a:pt x="12700" y="7427087"/>
                  </a:lnTo>
                  <a:lnTo>
                    <a:pt x="19050" y="7416038"/>
                  </a:lnTo>
                  <a:lnTo>
                    <a:pt x="2759329" y="8998204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AutoShape 5" id="5"/>
          <p:cNvSpPr/>
          <p:nvPr/>
        </p:nvSpPr>
        <p:spPr>
          <a:xfrm rot="3228">
            <a:off x="17053389" y="1078980"/>
            <a:ext cx="2693827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3228">
            <a:off x="17053389" y="1215735"/>
            <a:ext cx="2693827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3228">
            <a:off x="17053389" y="1352490"/>
            <a:ext cx="2693827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3228">
            <a:off x="17053389" y="1489245"/>
            <a:ext cx="2693827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3228">
            <a:off x="17053389" y="1626000"/>
            <a:ext cx="2693827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4220">
            <a:off x="-1114569" y="5650970"/>
            <a:ext cx="2060633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220">
            <a:off x="-1114569" y="5514215"/>
            <a:ext cx="2060633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4220">
            <a:off x="-1114569" y="5377460"/>
            <a:ext cx="2060633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4220">
            <a:off x="-1114569" y="5240705"/>
            <a:ext cx="2060633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4220">
            <a:off x="-1114569" y="5103950"/>
            <a:ext cx="2060633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868641" y="5062751"/>
            <a:ext cx="8972179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Em vez de muitos comandos para mostrar HTML (como acontece com C ou Perl), as páginas PHP contém HTML em código mesclado que faz alguma coisa (neste caso, mostra Olá, eu sou um script PHP!).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34115" y="1143656"/>
            <a:ext cx="1522515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CADA"/>
                </a:solidFill>
                <a:latin typeface="Arimo"/>
                <a:ea typeface="Arimo"/>
                <a:cs typeface="Arimo"/>
                <a:sym typeface="Arimo"/>
              </a:rPr>
              <a:t>Principais</a:t>
            </a:r>
            <a:r>
              <a:rPr lang="en-US" sz="4000">
                <a:solidFill>
                  <a:srgbClr val="00CADA"/>
                </a:solidFill>
                <a:latin typeface="Arimo"/>
                <a:ea typeface="Arimo"/>
                <a:cs typeface="Arimo"/>
                <a:sym typeface="Arimo"/>
              </a:rPr>
              <a:t> características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68641" y="2352425"/>
            <a:ext cx="9145987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 PHP (um acrônimo recursivo para PHP: Hypertext Preprocessor) é uma linguagem de script open source de uso geral, muito utilizada, e especialmente adequada para o desenvolvimento web e que pode ser embutida dentro do HTML.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2669225" y="3514475"/>
            <a:ext cx="2398832" cy="6945750"/>
          </a:xfrm>
          <a:custGeom>
            <a:avLst/>
            <a:gdLst/>
            <a:ahLst/>
            <a:cxnLst/>
            <a:rect r="r" b="b" t="t" l="l"/>
            <a:pathLst>
              <a:path h="6945750" w="2398832">
                <a:moveTo>
                  <a:pt x="0" y="0"/>
                </a:moveTo>
                <a:lnTo>
                  <a:pt x="2398832" y="0"/>
                </a:lnTo>
                <a:lnTo>
                  <a:pt x="2398832" y="6945750"/>
                </a:lnTo>
                <a:lnTo>
                  <a:pt x="0" y="6945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868641" y="7773078"/>
            <a:ext cx="9145987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 código PHP é delimitado pelas instruções de processamento (tags) de início e fim &lt;?php e ?&gt; que permitem entrar e sair do modo PHP.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40528" y="3426805"/>
            <a:ext cx="992015" cy="719998"/>
          </a:xfrm>
          <a:custGeom>
            <a:avLst/>
            <a:gdLst/>
            <a:ahLst/>
            <a:cxnLst/>
            <a:rect r="r" b="b" t="t" l="l"/>
            <a:pathLst>
              <a:path h="719998" w="992015">
                <a:moveTo>
                  <a:pt x="0" y="0"/>
                </a:moveTo>
                <a:lnTo>
                  <a:pt x="992015" y="0"/>
                </a:lnTo>
                <a:lnTo>
                  <a:pt x="992015" y="719998"/>
                </a:lnTo>
                <a:lnTo>
                  <a:pt x="0" y="7199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433675" y="-123525"/>
            <a:ext cx="2074250" cy="6775950"/>
            <a:chOff x="0" y="0"/>
            <a:chExt cx="2765667" cy="9034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2700"/>
              <a:ext cx="2759329" cy="9020175"/>
            </a:xfrm>
            <a:custGeom>
              <a:avLst/>
              <a:gdLst/>
              <a:ahLst/>
              <a:cxnLst/>
              <a:rect r="r" b="b" t="t" l="l"/>
              <a:pathLst>
                <a:path h="9020175" w="2759329">
                  <a:moveTo>
                    <a:pt x="2746629" y="9020175"/>
                  </a:moveTo>
                  <a:lnTo>
                    <a:pt x="6350" y="7438136"/>
                  </a:lnTo>
                  <a:cubicBezTo>
                    <a:pt x="2413" y="7435850"/>
                    <a:pt x="0" y="7431659"/>
                    <a:pt x="0" y="7427087"/>
                  </a:cubicBezTo>
                  <a:lnTo>
                    <a:pt x="0" y="3833368"/>
                  </a:lnTo>
                  <a:cubicBezTo>
                    <a:pt x="0" y="3829939"/>
                    <a:pt x="1397" y="3826764"/>
                    <a:pt x="3683" y="3824351"/>
                  </a:cubicBezTo>
                  <a:lnTo>
                    <a:pt x="831977" y="2996057"/>
                  </a:lnTo>
                  <a:lnTo>
                    <a:pt x="840994" y="3005074"/>
                  </a:lnTo>
                  <a:lnTo>
                    <a:pt x="828294" y="3005074"/>
                  </a:lnTo>
                  <a:lnTo>
                    <a:pt x="828294" y="0"/>
                  </a:lnTo>
                  <a:lnTo>
                    <a:pt x="853694" y="0"/>
                  </a:lnTo>
                  <a:lnTo>
                    <a:pt x="853694" y="3005074"/>
                  </a:lnTo>
                  <a:cubicBezTo>
                    <a:pt x="853694" y="3008503"/>
                    <a:pt x="852297" y="3011678"/>
                    <a:pt x="850011" y="3014091"/>
                  </a:cubicBezTo>
                  <a:lnTo>
                    <a:pt x="21717" y="3842258"/>
                  </a:lnTo>
                  <a:lnTo>
                    <a:pt x="12700" y="3833368"/>
                  </a:lnTo>
                  <a:lnTo>
                    <a:pt x="25400" y="3833368"/>
                  </a:lnTo>
                  <a:lnTo>
                    <a:pt x="25400" y="7427087"/>
                  </a:lnTo>
                  <a:lnTo>
                    <a:pt x="12700" y="7427087"/>
                  </a:lnTo>
                  <a:lnTo>
                    <a:pt x="19050" y="7416038"/>
                  </a:lnTo>
                  <a:lnTo>
                    <a:pt x="2759329" y="8998204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AutoShape 5" id="5"/>
          <p:cNvSpPr/>
          <p:nvPr/>
        </p:nvSpPr>
        <p:spPr>
          <a:xfrm rot="3228">
            <a:off x="17053389" y="1078980"/>
            <a:ext cx="2693827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3228">
            <a:off x="17053389" y="1215735"/>
            <a:ext cx="2693827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3228">
            <a:off x="17053389" y="1352490"/>
            <a:ext cx="2693827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3228">
            <a:off x="17053389" y="1489245"/>
            <a:ext cx="2693827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3228">
            <a:off x="17053389" y="1626000"/>
            <a:ext cx="2693827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4220">
            <a:off x="-1114569" y="5650970"/>
            <a:ext cx="2060633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220">
            <a:off x="-1114569" y="5514215"/>
            <a:ext cx="2060633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4220">
            <a:off x="-1114569" y="5377460"/>
            <a:ext cx="2060633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4220">
            <a:off x="-1114569" y="5240705"/>
            <a:ext cx="2060633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4220">
            <a:off x="-1114569" y="5103950"/>
            <a:ext cx="2060633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868641" y="5637947"/>
            <a:ext cx="8972179" cy="321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 melhor coisa em usar o PHP é que ele é extremamente simples para u</a:t>
            </a: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 iniciante, mas oferece muitos recursos avançados para um programador profissional. Não tenha medo de ler a longa lista de recursos do PHP. Com o PHP, praticamente qualquer pessoa pode começar a trabalhar e escrever scripts simples imediatamente.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34115" y="1143656"/>
            <a:ext cx="1522515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00CADA"/>
                </a:solidFill>
                <a:latin typeface="Arimo"/>
                <a:ea typeface="Arimo"/>
                <a:cs typeface="Arimo"/>
                <a:sym typeface="Arimo"/>
              </a:rPr>
              <a:t>Principais</a:t>
            </a:r>
            <a:r>
              <a:rPr lang="en-US" sz="4000">
                <a:solidFill>
                  <a:srgbClr val="00CADA"/>
                </a:solidFill>
                <a:latin typeface="Arimo"/>
                <a:ea typeface="Arimo"/>
                <a:cs typeface="Arimo"/>
                <a:sym typeface="Arimo"/>
              </a:rPr>
              <a:t> características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68641" y="2396154"/>
            <a:ext cx="9145987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 navegador recebe os resultados da execução desse script, mas não sabe qual era o código fonte. Um servidor web pode até mesmo ser configurado para processar todos os seus arquivos HTML com o PHP, e assim não haverá como os usuários dizerem que o PHP está sendo usado. 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2669225" y="3514475"/>
            <a:ext cx="2398832" cy="6945750"/>
          </a:xfrm>
          <a:custGeom>
            <a:avLst/>
            <a:gdLst/>
            <a:ahLst/>
            <a:cxnLst/>
            <a:rect r="r" b="b" t="t" l="l"/>
            <a:pathLst>
              <a:path h="6945750" w="2398832">
                <a:moveTo>
                  <a:pt x="0" y="0"/>
                </a:moveTo>
                <a:lnTo>
                  <a:pt x="2398832" y="0"/>
                </a:lnTo>
                <a:lnTo>
                  <a:pt x="2398832" y="6945750"/>
                </a:lnTo>
                <a:lnTo>
                  <a:pt x="0" y="6945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0853" y="382129"/>
            <a:ext cx="14118960" cy="9478884"/>
          </a:xfrm>
          <a:custGeom>
            <a:avLst/>
            <a:gdLst/>
            <a:ahLst/>
            <a:cxnLst/>
            <a:rect r="r" b="b" t="t" l="l"/>
            <a:pathLst>
              <a:path h="9478884" w="14118960">
                <a:moveTo>
                  <a:pt x="0" y="0"/>
                </a:moveTo>
                <a:lnTo>
                  <a:pt x="14118960" y="0"/>
                </a:lnTo>
                <a:lnTo>
                  <a:pt x="14118960" y="9478884"/>
                </a:lnTo>
                <a:lnTo>
                  <a:pt x="0" y="94788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03075" y="9217225"/>
            <a:ext cx="4968450" cy="643800"/>
            <a:chOff x="0" y="0"/>
            <a:chExt cx="6624600" cy="858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0"/>
              <a:ext cx="6599174" cy="858393"/>
            </a:xfrm>
            <a:custGeom>
              <a:avLst/>
              <a:gdLst/>
              <a:ahLst/>
              <a:cxnLst/>
              <a:rect r="r" b="b" t="t" l="l"/>
              <a:pathLst>
                <a:path h="858393" w="6599174">
                  <a:moveTo>
                    <a:pt x="0" y="0"/>
                  </a:moveTo>
                  <a:lnTo>
                    <a:pt x="2490851" y="0"/>
                  </a:lnTo>
                  <a:cubicBezTo>
                    <a:pt x="2494280" y="0"/>
                    <a:pt x="2497455" y="1397"/>
                    <a:pt x="2499868" y="3683"/>
                  </a:cubicBezTo>
                  <a:lnTo>
                    <a:pt x="3332861" y="836676"/>
                  </a:lnTo>
                  <a:lnTo>
                    <a:pt x="3323844" y="845693"/>
                  </a:lnTo>
                  <a:lnTo>
                    <a:pt x="3323844" y="832993"/>
                  </a:lnTo>
                  <a:lnTo>
                    <a:pt x="6599174" y="832993"/>
                  </a:lnTo>
                  <a:lnTo>
                    <a:pt x="6599174" y="858393"/>
                  </a:lnTo>
                  <a:lnTo>
                    <a:pt x="3323844" y="858393"/>
                  </a:lnTo>
                  <a:cubicBezTo>
                    <a:pt x="3320415" y="858393"/>
                    <a:pt x="3317240" y="856996"/>
                    <a:pt x="3314827" y="854710"/>
                  </a:cubicBezTo>
                  <a:lnTo>
                    <a:pt x="2481834" y="21717"/>
                  </a:lnTo>
                  <a:lnTo>
                    <a:pt x="2490851" y="12700"/>
                  </a:lnTo>
                  <a:lnTo>
                    <a:pt x="2490851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994886" y="8862196"/>
            <a:ext cx="719998" cy="992015"/>
          </a:xfrm>
          <a:custGeom>
            <a:avLst/>
            <a:gdLst/>
            <a:ahLst/>
            <a:cxnLst/>
            <a:rect r="r" b="b" t="t" l="l"/>
            <a:pathLst>
              <a:path h="992015" w="719998">
                <a:moveTo>
                  <a:pt x="0" y="0"/>
                </a:moveTo>
                <a:lnTo>
                  <a:pt x="719998" y="0"/>
                </a:lnTo>
                <a:lnTo>
                  <a:pt x="719998" y="992015"/>
                </a:lnTo>
                <a:lnTo>
                  <a:pt x="0" y="9920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359475" y="-640425"/>
            <a:ext cx="3847168" cy="8820072"/>
            <a:chOff x="0" y="0"/>
            <a:chExt cx="5129557" cy="11760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683" y="12700"/>
              <a:ext cx="5125847" cy="11743690"/>
            </a:xfrm>
            <a:custGeom>
              <a:avLst/>
              <a:gdLst/>
              <a:ahLst/>
              <a:cxnLst/>
              <a:rect r="r" b="b" t="t" l="l"/>
              <a:pathLst>
                <a:path h="11743690" w="5125847">
                  <a:moveTo>
                    <a:pt x="0" y="11725656"/>
                  </a:moveTo>
                  <a:lnTo>
                    <a:pt x="2232533" y="9493250"/>
                  </a:lnTo>
                  <a:lnTo>
                    <a:pt x="2241550" y="9502267"/>
                  </a:lnTo>
                  <a:lnTo>
                    <a:pt x="2228850" y="9502267"/>
                  </a:lnTo>
                  <a:lnTo>
                    <a:pt x="2228850" y="3971417"/>
                  </a:lnTo>
                  <a:cubicBezTo>
                    <a:pt x="2228850" y="3966845"/>
                    <a:pt x="2231263" y="3962654"/>
                    <a:pt x="2235200" y="3960368"/>
                  </a:cubicBezTo>
                  <a:lnTo>
                    <a:pt x="5106797" y="2302383"/>
                  </a:lnTo>
                  <a:lnTo>
                    <a:pt x="5113147" y="2313432"/>
                  </a:lnTo>
                  <a:lnTo>
                    <a:pt x="5100447" y="2313432"/>
                  </a:lnTo>
                  <a:lnTo>
                    <a:pt x="5100447" y="0"/>
                  </a:lnTo>
                  <a:lnTo>
                    <a:pt x="5125847" y="0"/>
                  </a:lnTo>
                  <a:lnTo>
                    <a:pt x="5125847" y="2313432"/>
                  </a:lnTo>
                  <a:cubicBezTo>
                    <a:pt x="5125847" y="2318004"/>
                    <a:pt x="5123434" y="2322195"/>
                    <a:pt x="5119497" y="2324481"/>
                  </a:cubicBezTo>
                  <a:lnTo>
                    <a:pt x="2247773" y="3982339"/>
                  </a:lnTo>
                  <a:lnTo>
                    <a:pt x="2241423" y="3971290"/>
                  </a:lnTo>
                  <a:lnTo>
                    <a:pt x="2254123" y="3971290"/>
                  </a:lnTo>
                  <a:lnTo>
                    <a:pt x="2254123" y="9502140"/>
                  </a:lnTo>
                  <a:cubicBezTo>
                    <a:pt x="2254123" y="9505569"/>
                    <a:pt x="2252726" y="9508744"/>
                    <a:pt x="2250440" y="9511157"/>
                  </a:cubicBezTo>
                  <a:lnTo>
                    <a:pt x="18034" y="11743690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22628" y="5923155"/>
            <a:ext cx="992015" cy="719998"/>
          </a:xfrm>
          <a:custGeom>
            <a:avLst/>
            <a:gdLst/>
            <a:ahLst/>
            <a:cxnLst/>
            <a:rect r="r" b="b" t="t" l="l"/>
            <a:pathLst>
              <a:path h="719998" w="992015">
                <a:moveTo>
                  <a:pt x="0" y="0"/>
                </a:moveTo>
                <a:lnTo>
                  <a:pt x="992015" y="0"/>
                </a:lnTo>
                <a:lnTo>
                  <a:pt x="992015" y="719998"/>
                </a:lnTo>
                <a:lnTo>
                  <a:pt x="0" y="719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rot="2838">
            <a:off x="-1737493" y="3496080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2838">
            <a:off x="-1737493" y="3632835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2838">
            <a:off x="-1737493" y="3769590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2838">
            <a:off x="-1737493" y="3906345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2838">
            <a:off x="-1737493" y="4043100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218924" y="-228128"/>
            <a:ext cx="16626662" cy="9130760"/>
          </a:xfrm>
          <a:custGeom>
            <a:avLst/>
            <a:gdLst/>
            <a:ahLst/>
            <a:cxnLst/>
            <a:rect r="r" b="b" t="t" l="l"/>
            <a:pathLst>
              <a:path h="9130760" w="16626662">
                <a:moveTo>
                  <a:pt x="0" y="0"/>
                </a:moveTo>
                <a:lnTo>
                  <a:pt x="16626662" y="0"/>
                </a:lnTo>
                <a:lnTo>
                  <a:pt x="16626662" y="9130760"/>
                </a:lnTo>
                <a:lnTo>
                  <a:pt x="0" y="91307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487693" y="1461982"/>
            <a:ext cx="606614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Exemplos</a:t>
            </a: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de código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52058" y="2563732"/>
            <a:ext cx="5603550" cy="652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&lt;!DOCTYPE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html&gt;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&lt;html&gt;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&lt;head&gt;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   &lt;title&gt;Exemplo&lt;/title&gt;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&lt;/head&gt;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&lt;body&gt;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   &lt;?p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hp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       echo "Olá, eu sou um script PHP!";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   ?&gt;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&lt;/body&gt;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&lt;/html&gt; 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Códi</a:t>
            </a:r>
            <a:r>
              <a:rPr lang="en-US" b="true" sz="2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go para printar “Olá, eu sou um script PHP!”</a:t>
            </a:r>
          </a:p>
          <a:p>
            <a:pPr algn="l" marL="883920" indent="-441960" lvl="1">
              <a:lnSpc>
                <a:spcPts val="2879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2987570" y="1679070"/>
            <a:ext cx="456150" cy="394500"/>
            <a:chOff x="0" y="0"/>
            <a:chExt cx="608200" cy="52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0853" y="382129"/>
            <a:ext cx="14118960" cy="9478884"/>
          </a:xfrm>
          <a:custGeom>
            <a:avLst/>
            <a:gdLst/>
            <a:ahLst/>
            <a:cxnLst/>
            <a:rect r="r" b="b" t="t" l="l"/>
            <a:pathLst>
              <a:path h="9478884" w="14118960">
                <a:moveTo>
                  <a:pt x="0" y="0"/>
                </a:moveTo>
                <a:lnTo>
                  <a:pt x="14118960" y="0"/>
                </a:lnTo>
                <a:lnTo>
                  <a:pt x="14118960" y="9478884"/>
                </a:lnTo>
                <a:lnTo>
                  <a:pt x="0" y="94788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03075" y="9217225"/>
            <a:ext cx="4968450" cy="643800"/>
            <a:chOff x="0" y="0"/>
            <a:chExt cx="6624600" cy="858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0"/>
              <a:ext cx="6599174" cy="858393"/>
            </a:xfrm>
            <a:custGeom>
              <a:avLst/>
              <a:gdLst/>
              <a:ahLst/>
              <a:cxnLst/>
              <a:rect r="r" b="b" t="t" l="l"/>
              <a:pathLst>
                <a:path h="858393" w="6599174">
                  <a:moveTo>
                    <a:pt x="0" y="0"/>
                  </a:moveTo>
                  <a:lnTo>
                    <a:pt x="2490851" y="0"/>
                  </a:lnTo>
                  <a:cubicBezTo>
                    <a:pt x="2494280" y="0"/>
                    <a:pt x="2497455" y="1397"/>
                    <a:pt x="2499868" y="3683"/>
                  </a:cubicBezTo>
                  <a:lnTo>
                    <a:pt x="3332861" y="836676"/>
                  </a:lnTo>
                  <a:lnTo>
                    <a:pt x="3323844" y="845693"/>
                  </a:lnTo>
                  <a:lnTo>
                    <a:pt x="3323844" y="832993"/>
                  </a:lnTo>
                  <a:lnTo>
                    <a:pt x="6599174" y="832993"/>
                  </a:lnTo>
                  <a:lnTo>
                    <a:pt x="6599174" y="858393"/>
                  </a:lnTo>
                  <a:lnTo>
                    <a:pt x="3323844" y="858393"/>
                  </a:lnTo>
                  <a:cubicBezTo>
                    <a:pt x="3320415" y="858393"/>
                    <a:pt x="3317240" y="856996"/>
                    <a:pt x="3314827" y="854710"/>
                  </a:cubicBezTo>
                  <a:lnTo>
                    <a:pt x="2481834" y="21717"/>
                  </a:lnTo>
                  <a:lnTo>
                    <a:pt x="2490851" y="12700"/>
                  </a:lnTo>
                  <a:lnTo>
                    <a:pt x="2490851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994886" y="8862196"/>
            <a:ext cx="719998" cy="992015"/>
          </a:xfrm>
          <a:custGeom>
            <a:avLst/>
            <a:gdLst/>
            <a:ahLst/>
            <a:cxnLst/>
            <a:rect r="r" b="b" t="t" l="l"/>
            <a:pathLst>
              <a:path h="992015" w="719998">
                <a:moveTo>
                  <a:pt x="0" y="0"/>
                </a:moveTo>
                <a:lnTo>
                  <a:pt x="719998" y="0"/>
                </a:lnTo>
                <a:lnTo>
                  <a:pt x="719998" y="992015"/>
                </a:lnTo>
                <a:lnTo>
                  <a:pt x="0" y="9920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359475" y="-640425"/>
            <a:ext cx="3847168" cy="8820072"/>
            <a:chOff x="0" y="0"/>
            <a:chExt cx="5129557" cy="11760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683" y="12700"/>
              <a:ext cx="5125847" cy="11743690"/>
            </a:xfrm>
            <a:custGeom>
              <a:avLst/>
              <a:gdLst/>
              <a:ahLst/>
              <a:cxnLst/>
              <a:rect r="r" b="b" t="t" l="l"/>
              <a:pathLst>
                <a:path h="11743690" w="5125847">
                  <a:moveTo>
                    <a:pt x="0" y="11725656"/>
                  </a:moveTo>
                  <a:lnTo>
                    <a:pt x="2232533" y="9493250"/>
                  </a:lnTo>
                  <a:lnTo>
                    <a:pt x="2241550" y="9502267"/>
                  </a:lnTo>
                  <a:lnTo>
                    <a:pt x="2228850" y="9502267"/>
                  </a:lnTo>
                  <a:lnTo>
                    <a:pt x="2228850" y="3971417"/>
                  </a:lnTo>
                  <a:cubicBezTo>
                    <a:pt x="2228850" y="3966845"/>
                    <a:pt x="2231263" y="3962654"/>
                    <a:pt x="2235200" y="3960368"/>
                  </a:cubicBezTo>
                  <a:lnTo>
                    <a:pt x="5106797" y="2302383"/>
                  </a:lnTo>
                  <a:lnTo>
                    <a:pt x="5113147" y="2313432"/>
                  </a:lnTo>
                  <a:lnTo>
                    <a:pt x="5100447" y="2313432"/>
                  </a:lnTo>
                  <a:lnTo>
                    <a:pt x="5100447" y="0"/>
                  </a:lnTo>
                  <a:lnTo>
                    <a:pt x="5125847" y="0"/>
                  </a:lnTo>
                  <a:lnTo>
                    <a:pt x="5125847" y="2313432"/>
                  </a:lnTo>
                  <a:cubicBezTo>
                    <a:pt x="5125847" y="2318004"/>
                    <a:pt x="5123434" y="2322195"/>
                    <a:pt x="5119497" y="2324481"/>
                  </a:cubicBezTo>
                  <a:lnTo>
                    <a:pt x="2247773" y="3982339"/>
                  </a:lnTo>
                  <a:lnTo>
                    <a:pt x="2241423" y="3971290"/>
                  </a:lnTo>
                  <a:lnTo>
                    <a:pt x="2254123" y="3971290"/>
                  </a:lnTo>
                  <a:lnTo>
                    <a:pt x="2254123" y="9502140"/>
                  </a:lnTo>
                  <a:cubicBezTo>
                    <a:pt x="2254123" y="9505569"/>
                    <a:pt x="2252726" y="9508744"/>
                    <a:pt x="2250440" y="9511157"/>
                  </a:cubicBezTo>
                  <a:lnTo>
                    <a:pt x="18034" y="11743690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22628" y="5923155"/>
            <a:ext cx="992015" cy="719998"/>
          </a:xfrm>
          <a:custGeom>
            <a:avLst/>
            <a:gdLst/>
            <a:ahLst/>
            <a:cxnLst/>
            <a:rect r="r" b="b" t="t" l="l"/>
            <a:pathLst>
              <a:path h="719998" w="992015">
                <a:moveTo>
                  <a:pt x="0" y="0"/>
                </a:moveTo>
                <a:lnTo>
                  <a:pt x="992015" y="0"/>
                </a:lnTo>
                <a:lnTo>
                  <a:pt x="992015" y="719998"/>
                </a:lnTo>
                <a:lnTo>
                  <a:pt x="0" y="719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rot="2838">
            <a:off x="-1737493" y="3496080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2838">
            <a:off x="-1737493" y="3632835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2838">
            <a:off x="-1737493" y="3769590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2838">
            <a:off x="-1737493" y="3906345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2838">
            <a:off x="-1737493" y="4043100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218924" y="-228128"/>
            <a:ext cx="16626662" cy="9130760"/>
          </a:xfrm>
          <a:custGeom>
            <a:avLst/>
            <a:gdLst/>
            <a:ahLst/>
            <a:cxnLst/>
            <a:rect r="r" b="b" t="t" l="l"/>
            <a:pathLst>
              <a:path h="9130760" w="16626662">
                <a:moveTo>
                  <a:pt x="0" y="0"/>
                </a:moveTo>
                <a:lnTo>
                  <a:pt x="16626662" y="0"/>
                </a:lnTo>
                <a:lnTo>
                  <a:pt x="16626662" y="9130760"/>
                </a:lnTo>
                <a:lnTo>
                  <a:pt x="0" y="91307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487693" y="1461982"/>
            <a:ext cx="606614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Exemplos</a:t>
            </a: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de código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52058" y="3324225"/>
            <a:ext cx="5603550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&lt;?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php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$idade = 20;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if($idade &gt;= 18){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echo "Maior de idade";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}else{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echo "Menor de idade";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}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?&gt;</a:t>
            </a:r>
          </a:p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Código de estrutura condicional</a:t>
            </a: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2987570" y="1679070"/>
            <a:ext cx="456150" cy="394500"/>
            <a:chOff x="0" y="0"/>
            <a:chExt cx="608200" cy="52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0853" y="382129"/>
            <a:ext cx="14118960" cy="9478884"/>
          </a:xfrm>
          <a:custGeom>
            <a:avLst/>
            <a:gdLst/>
            <a:ahLst/>
            <a:cxnLst/>
            <a:rect r="r" b="b" t="t" l="l"/>
            <a:pathLst>
              <a:path h="9478884" w="14118960">
                <a:moveTo>
                  <a:pt x="0" y="0"/>
                </a:moveTo>
                <a:lnTo>
                  <a:pt x="14118960" y="0"/>
                </a:lnTo>
                <a:lnTo>
                  <a:pt x="14118960" y="9478884"/>
                </a:lnTo>
                <a:lnTo>
                  <a:pt x="0" y="94788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03075" y="9217225"/>
            <a:ext cx="4968450" cy="643800"/>
            <a:chOff x="0" y="0"/>
            <a:chExt cx="6624600" cy="858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0"/>
              <a:ext cx="6599174" cy="858393"/>
            </a:xfrm>
            <a:custGeom>
              <a:avLst/>
              <a:gdLst/>
              <a:ahLst/>
              <a:cxnLst/>
              <a:rect r="r" b="b" t="t" l="l"/>
              <a:pathLst>
                <a:path h="858393" w="6599174">
                  <a:moveTo>
                    <a:pt x="0" y="0"/>
                  </a:moveTo>
                  <a:lnTo>
                    <a:pt x="2490851" y="0"/>
                  </a:lnTo>
                  <a:cubicBezTo>
                    <a:pt x="2494280" y="0"/>
                    <a:pt x="2497455" y="1397"/>
                    <a:pt x="2499868" y="3683"/>
                  </a:cubicBezTo>
                  <a:lnTo>
                    <a:pt x="3332861" y="836676"/>
                  </a:lnTo>
                  <a:lnTo>
                    <a:pt x="3323844" y="845693"/>
                  </a:lnTo>
                  <a:lnTo>
                    <a:pt x="3323844" y="832993"/>
                  </a:lnTo>
                  <a:lnTo>
                    <a:pt x="6599174" y="832993"/>
                  </a:lnTo>
                  <a:lnTo>
                    <a:pt x="6599174" y="858393"/>
                  </a:lnTo>
                  <a:lnTo>
                    <a:pt x="3323844" y="858393"/>
                  </a:lnTo>
                  <a:cubicBezTo>
                    <a:pt x="3320415" y="858393"/>
                    <a:pt x="3317240" y="856996"/>
                    <a:pt x="3314827" y="854710"/>
                  </a:cubicBezTo>
                  <a:lnTo>
                    <a:pt x="2481834" y="21717"/>
                  </a:lnTo>
                  <a:lnTo>
                    <a:pt x="2490851" y="12700"/>
                  </a:lnTo>
                  <a:lnTo>
                    <a:pt x="2490851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994886" y="8862196"/>
            <a:ext cx="719998" cy="992015"/>
          </a:xfrm>
          <a:custGeom>
            <a:avLst/>
            <a:gdLst/>
            <a:ahLst/>
            <a:cxnLst/>
            <a:rect r="r" b="b" t="t" l="l"/>
            <a:pathLst>
              <a:path h="992015" w="719998">
                <a:moveTo>
                  <a:pt x="0" y="0"/>
                </a:moveTo>
                <a:lnTo>
                  <a:pt x="719998" y="0"/>
                </a:lnTo>
                <a:lnTo>
                  <a:pt x="719998" y="992015"/>
                </a:lnTo>
                <a:lnTo>
                  <a:pt x="0" y="9920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359475" y="-640425"/>
            <a:ext cx="3847168" cy="8820072"/>
            <a:chOff x="0" y="0"/>
            <a:chExt cx="5129557" cy="11760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683" y="12700"/>
              <a:ext cx="5125847" cy="11743690"/>
            </a:xfrm>
            <a:custGeom>
              <a:avLst/>
              <a:gdLst/>
              <a:ahLst/>
              <a:cxnLst/>
              <a:rect r="r" b="b" t="t" l="l"/>
              <a:pathLst>
                <a:path h="11743690" w="5125847">
                  <a:moveTo>
                    <a:pt x="0" y="11725656"/>
                  </a:moveTo>
                  <a:lnTo>
                    <a:pt x="2232533" y="9493250"/>
                  </a:lnTo>
                  <a:lnTo>
                    <a:pt x="2241550" y="9502267"/>
                  </a:lnTo>
                  <a:lnTo>
                    <a:pt x="2228850" y="9502267"/>
                  </a:lnTo>
                  <a:lnTo>
                    <a:pt x="2228850" y="3971417"/>
                  </a:lnTo>
                  <a:cubicBezTo>
                    <a:pt x="2228850" y="3966845"/>
                    <a:pt x="2231263" y="3962654"/>
                    <a:pt x="2235200" y="3960368"/>
                  </a:cubicBezTo>
                  <a:lnTo>
                    <a:pt x="5106797" y="2302383"/>
                  </a:lnTo>
                  <a:lnTo>
                    <a:pt x="5113147" y="2313432"/>
                  </a:lnTo>
                  <a:lnTo>
                    <a:pt x="5100447" y="2313432"/>
                  </a:lnTo>
                  <a:lnTo>
                    <a:pt x="5100447" y="0"/>
                  </a:lnTo>
                  <a:lnTo>
                    <a:pt x="5125847" y="0"/>
                  </a:lnTo>
                  <a:lnTo>
                    <a:pt x="5125847" y="2313432"/>
                  </a:lnTo>
                  <a:cubicBezTo>
                    <a:pt x="5125847" y="2318004"/>
                    <a:pt x="5123434" y="2322195"/>
                    <a:pt x="5119497" y="2324481"/>
                  </a:cubicBezTo>
                  <a:lnTo>
                    <a:pt x="2247773" y="3982339"/>
                  </a:lnTo>
                  <a:lnTo>
                    <a:pt x="2241423" y="3971290"/>
                  </a:lnTo>
                  <a:lnTo>
                    <a:pt x="2254123" y="3971290"/>
                  </a:lnTo>
                  <a:lnTo>
                    <a:pt x="2254123" y="9502140"/>
                  </a:lnTo>
                  <a:cubicBezTo>
                    <a:pt x="2254123" y="9505569"/>
                    <a:pt x="2252726" y="9508744"/>
                    <a:pt x="2250440" y="9511157"/>
                  </a:cubicBezTo>
                  <a:lnTo>
                    <a:pt x="18034" y="11743690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22628" y="5923155"/>
            <a:ext cx="992015" cy="719998"/>
          </a:xfrm>
          <a:custGeom>
            <a:avLst/>
            <a:gdLst/>
            <a:ahLst/>
            <a:cxnLst/>
            <a:rect r="r" b="b" t="t" l="l"/>
            <a:pathLst>
              <a:path h="719998" w="992015">
                <a:moveTo>
                  <a:pt x="0" y="0"/>
                </a:moveTo>
                <a:lnTo>
                  <a:pt x="992015" y="0"/>
                </a:lnTo>
                <a:lnTo>
                  <a:pt x="992015" y="719998"/>
                </a:lnTo>
                <a:lnTo>
                  <a:pt x="0" y="719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rot="2838">
            <a:off x="-1737493" y="3496080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2838">
            <a:off x="-1737493" y="3632835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2838">
            <a:off x="-1737493" y="3769590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2838">
            <a:off x="-1737493" y="3906345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2838">
            <a:off x="-1737493" y="4043100"/>
            <a:ext cx="3063496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218924" y="-228128"/>
            <a:ext cx="16626662" cy="9130760"/>
          </a:xfrm>
          <a:custGeom>
            <a:avLst/>
            <a:gdLst/>
            <a:ahLst/>
            <a:cxnLst/>
            <a:rect r="r" b="b" t="t" l="l"/>
            <a:pathLst>
              <a:path h="9130760" w="16626662">
                <a:moveTo>
                  <a:pt x="0" y="0"/>
                </a:moveTo>
                <a:lnTo>
                  <a:pt x="16626662" y="0"/>
                </a:lnTo>
                <a:lnTo>
                  <a:pt x="16626662" y="9130760"/>
                </a:lnTo>
                <a:lnTo>
                  <a:pt x="0" y="91307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487693" y="1461982"/>
            <a:ext cx="606614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Exemplos</a:t>
            </a: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de código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52058" y="3324225"/>
            <a:ext cx="5603550" cy="326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&lt;?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php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function saudacao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($nome){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echo "Olá, $nome";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}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sauda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cao("Gabriel");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?&gt;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Código de 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un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çã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2987570" y="1679070"/>
            <a:ext cx="456150" cy="394500"/>
            <a:chOff x="0" y="0"/>
            <a:chExt cx="608200" cy="52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029" y="4866633"/>
            <a:ext cx="17357748" cy="2641634"/>
          </a:xfrm>
          <a:custGeom>
            <a:avLst/>
            <a:gdLst/>
            <a:ahLst/>
            <a:cxnLst/>
            <a:rect r="r" b="b" t="t" l="l"/>
            <a:pathLst>
              <a:path h="2641634" w="17357748">
                <a:moveTo>
                  <a:pt x="0" y="0"/>
                </a:moveTo>
                <a:lnTo>
                  <a:pt x="17357748" y="0"/>
                </a:lnTo>
                <a:lnTo>
                  <a:pt x="17357748" y="2641634"/>
                </a:lnTo>
                <a:lnTo>
                  <a:pt x="0" y="26416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81023" y="-9515"/>
            <a:ext cx="6367738" cy="10092026"/>
            <a:chOff x="0" y="0"/>
            <a:chExt cx="8490317" cy="134560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66" y="12700"/>
              <a:ext cx="8490398" cy="13436981"/>
            </a:xfrm>
            <a:custGeom>
              <a:avLst/>
              <a:gdLst/>
              <a:ahLst/>
              <a:cxnLst/>
              <a:rect r="r" b="b" t="t" l="l"/>
              <a:pathLst>
                <a:path h="13436981" w="8490398">
                  <a:moveTo>
                    <a:pt x="8490397" y="0"/>
                  </a:moveTo>
                  <a:lnTo>
                    <a:pt x="8490397" y="3080385"/>
                  </a:lnTo>
                  <a:cubicBezTo>
                    <a:pt x="8490397" y="3083814"/>
                    <a:pt x="8489001" y="3086989"/>
                    <a:pt x="8486715" y="3089402"/>
                  </a:cubicBezTo>
                  <a:lnTo>
                    <a:pt x="4026220" y="7549769"/>
                  </a:lnTo>
                  <a:lnTo>
                    <a:pt x="4017203" y="7540751"/>
                  </a:lnTo>
                  <a:lnTo>
                    <a:pt x="4029903" y="7540751"/>
                  </a:lnTo>
                  <a:lnTo>
                    <a:pt x="4029903" y="10670540"/>
                  </a:lnTo>
                  <a:cubicBezTo>
                    <a:pt x="4029903" y="10675112"/>
                    <a:pt x="4027490" y="10679303"/>
                    <a:pt x="4023553" y="10681589"/>
                  </a:cubicBezTo>
                  <a:lnTo>
                    <a:pt x="19116" y="12993497"/>
                  </a:lnTo>
                  <a:lnTo>
                    <a:pt x="12766" y="12982448"/>
                  </a:lnTo>
                  <a:lnTo>
                    <a:pt x="23815" y="12976098"/>
                  </a:lnTo>
                  <a:lnTo>
                    <a:pt x="282514" y="13424281"/>
                  </a:lnTo>
                  <a:lnTo>
                    <a:pt x="260543" y="13436981"/>
                  </a:lnTo>
                  <a:lnTo>
                    <a:pt x="1717" y="12988798"/>
                  </a:lnTo>
                  <a:cubicBezTo>
                    <a:pt x="-1839" y="12982702"/>
                    <a:pt x="320" y="12974955"/>
                    <a:pt x="6416" y="12971399"/>
                  </a:cubicBezTo>
                  <a:lnTo>
                    <a:pt x="4010853" y="10659618"/>
                  </a:lnTo>
                  <a:lnTo>
                    <a:pt x="4017203" y="10670667"/>
                  </a:lnTo>
                  <a:lnTo>
                    <a:pt x="4004503" y="10670667"/>
                  </a:lnTo>
                  <a:lnTo>
                    <a:pt x="4004503" y="7540752"/>
                  </a:lnTo>
                  <a:cubicBezTo>
                    <a:pt x="4004503" y="7537323"/>
                    <a:pt x="4005900" y="7534148"/>
                    <a:pt x="4008186" y="7531735"/>
                  </a:cubicBezTo>
                  <a:lnTo>
                    <a:pt x="8468680" y="3071495"/>
                  </a:lnTo>
                  <a:lnTo>
                    <a:pt x="8477697" y="3080512"/>
                  </a:lnTo>
                  <a:lnTo>
                    <a:pt x="8464997" y="3080512"/>
                  </a:lnTo>
                  <a:lnTo>
                    <a:pt x="8464997" y="0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6186" y="2933455"/>
            <a:ext cx="992015" cy="719998"/>
          </a:xfrm>
          <a:custGeom>
            <a:avLst/>
            <a:gdLst/>
            <a:ahLst/>
            <a:cxnLst/>
            <a:rect r="r" b="b" t="t" l="l"/>
            <a:pathLst>
              <a:path h="719998" w="992015">
                <a:moveTo>
                  <a:pt x="0" y="0"/>
                </a:moveTo>
                <a:lnTo>
                  <a:pt x="992015" y="0"/>
                </a:lnTo>
                <a:lnTo>
                  <a:pt x="992015" y="719998"/>
                </a:lnTo>
                <a:lnTo>
                  <a:pt x="0" y="7199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416403" y="7096615"/>
            <a:ext cx="2511354" cy="8181960"/>
            <a:chOff x="0" y="0"/>
            <a:chExt cx="3348472" cy="10909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00"/>
              <a:ext cx="3348482" cy="10883900"/>
            </a:xfrm>
            <a:custGeom>
              <a:avLst/>
              <a:gdLst/>
              <a:ahLst/>
              <a:cxnLst/>
              <a:rect r="r" b="b" t="t" l="l"/>
              <a:pathLst>
                <a:path h="10883900" w="3348482">
                  <a:moveTo>
                    <a:pt x="1773809" y="0"/>
                  </a:moveTo>
                  <a:lnTo>
                    <a:pt x="1773809" y="949452"/>
                  </a:lnTo>
                  <a:cubicBezTo>
                    <a:pt x="1773809" y="952881"/>
                    <a:pt x="1772412" y="956056"/>
                    <a:pt x="1770126" y="958469"/>
                  </a:cubicBezTo>
                  <a:lnTo>
                    <a:pt x="21717" y="2706751"/>
                  </a:lnTo>
                  <a:lnTo>
                    <a:pt x="12700" y="2697861"/>
                  </a:lnTo>
                  <a:lnTo>
                    <a:pt x="25400" y="2697861"/>
                  </a:lnTo>
                  <a:lnTo>
                    <a:pt x="25400" y="4585208"/>
                  </a:lnTo>
                  <a:lnTo>
                    <a:pt x="12700" y="4585208"/>
                  </a:lnTo>
                  <a:lnTo>
                    <a:pt x="21717" y="4576191"/>
                  </a:lnTo>
                  <a:lnTo>
                    <a:pt x="1046480" y="5600954"/>
                  </a:lnTo>
                  <a:lnTo>
                    <a:pt x="1037463" y="5609971"/>
                  </a:lnTo>
                  <a:lnTo>
                    <a:pt x="1037463" y="5597271"/>
                  </a:lnTo>
                  <a:lnTo>
                    <a:pt x="3335782" y="5597271"/>
                  </a:lnTo>
                  <a:cubicBezTo>
                    <a:pt x="3342767" y="5597271"/>
                    <a:pt x="3348482" y="5602986"/>
                    <a:pt x="3348482" y="5609971"/>
                  </a:cubicBezTo>
                  <a:lnTo>
                    <a:pt x="3348482" y="10883900"/>
                  </a:lnTo>
                  <a:lnTo>
                    <a:pt x="3323082" y="10883900"/>
                  </a:lnTo>
                  <a:lnTo>
                    <a:pt x="3323082" y="5609844"/>
                  </a:lnTo>
                  <a:lnTo>
                    <a:pt x="3335782" y="5609844"/>
                  </a:lnTo>
                  <a:lnTo>
                    <a:pt x="3335782" y="5622544"/>
                  </a:lnTo>
                  <a:lnTo>
                    <a:pt x="1037463" y="5622544"/>
                  </a:lnTo>
                  <a:cubicBezTo>
                    <a:pt x="1034034" y="5622544"/>
                    <a:pt x="1030859" y="5621147"/>
                    <a:pt x="1028446" y="5618861"/>
                  </a:cubicBezTo>
                  <a:lnTo>
                    <a:pt x="3683" y="4594098"/>
                  </a:lnTo>
                  <a:cubicBezTo>
                    <a:pt x="1270" y="4591685"/>
                    <a:pt x="0" y="4588510"/>
                    <a:pt x="0" y="4585081"/>
                  </a:cubicBezTo>
                  <a:lnTo>
                    <a:pt x="0" y="2697861"/>
                  </a:lnTo>
                  <a:cubicBezTo>
                    <a:pt x="0" y="2694432"/>
                    <a:pt x="1397" y="2691257"/>
                    <a:pt x="3683" y="2688844"/>
                  </a:cubicBezTo>
                  <a:lnTo>
                    <a:pt x="1752092" y="940562"/>
                  </a:lnTo>
                  <a:lnTo>
                    <a:pt x="1761109" y="949579"/>
                  </a:lnTo>
                  <a:lnTo>
                    <a:pt x="1748409" y="949579"/>
                  </a:lnTo>
                  <a:lnTo>
                    <a:pt x="1748409" y="0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AutoShape 8" id="8"/>
          <p:cNvSpPr/>
          <p:nvPr/>
        </p:nvSpPr>
        <p:spPr>
          <a:xfrm rot="4500">
            <a:off x="16424919" y="940463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4500">
            <a:off x="16424919" y="9541385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4500">
            <a:off x="16424919" y="967814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500">
            <a:off x="16424919" y="9814895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4500">
            <a:off x="16424919" y="995165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685750" y="5049322"/>
            <a:ext cx="17427244" cy="3894276"/>
          </a:xfrm>
          <a:custGeom>
            <a:avLst/>
            <a:gdLst/>
            <a:ahLst/>
            <a:cxnLst/>
            <a:rect r="r" b="b" t="t" l="l"/>
            <a:pathLst>
              <a:path h="3894276" w="17427244">
                <a:moveTo>
                  <a:pt x="0" y="0"/>
                </a:moveTo>
                <a:lnTo>
                  <a:pt x="17427244" y="0"/>
                </a:lnTo>
                <a:lnTo>
                  <a:pt x="17427244" y="3894276"/>
                </a:lnTo>
                <a:lnTo>
                  <a:pt x="0" y="38942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37116" y="1950950"/>
            <a:ext cx="1632451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 PHP é amplamente aplicado no mercado atual, destacando-se em cinco grandes áreas: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31425" y="962425"/>
            <a:ext cx="1522515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Áreas de aplicação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00925" y="3399783"/>
            <a:ext cx="64556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E-c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ommerce: É o motor de grandes lojas virtuais via Magento e WooCommerce [1].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21725" y="3311316"/>
            <a:ext cx="6052242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CMS 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 Portais: Domina cerca de 80% do back-end da web através do WordPress, Drupal e Joomla [1].</a:t>
            </a:r>
          </a:p>
          <a:p>
            <a:pPr algn="l">
              <a:lnSpc>
                <a:spcPts val="2879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605888" y="3321066"/>
            <a:ext cx="690300" cy="689800"/>
          </a:xfrm>
          <a:custGeom>
            <a:avLst/>
            <a:gdLst/>
            <a:ahLst/>
            <a:cxnLst/>
            <a:rect r="r" b="b" t="t" l="l"/>
            <a:pathLst>
              <a:path h="689800" w="690300">
                <a:moveTo>
                  <a:pt x="0" y="0"/>
                </a:moveTo>
                <a:lnTo>
                  <a:pt x="690300" y="0"/>
                </a:lnTo>
                <a:lnTo>
                  <a:pt x="690300" y="689800"/>
                </a:lnTo>
                <a:lnTo>
                  <a:pt x="0" y="689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31425" y="3320841"/>
            <a:ext cx="690300" cy="690250"/>
          </a:xfrm>
          <a:custGeom>
            <a:avLst/>
            <a:gdLst/>
            <a:ahLst/>
            <a:cxnLst/>
            <a:rect r="r" b="b" t="t" l="l"/>
            <a:pathLst>
              <a:path h="690250" w="690300">
                <a:moveTo>
                  <a:pt x="0" y="0"/>
                </a:moveTo>
                <a:lnTo>
                  <a:pt x="690300" y="0"/>
                </a:lnTo>
                <a:lnTo>
                  <a:pt x="690300" y="690250"/>
                </a:lnTo>
                <a:lnTo>
                  <a:pt x="0" y="690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39995" y="5497450"/>
            <a:ext cx="692650" cy="690000"/>
          </a:xfrm>
          <a:custGeom>
            <a:avLst/>
            <a:gdLst/>
            <a:ahLst/>
            <a:cxnLst/>
            <a:rect r="r" b="b" t="t" l="l"/>
            <a:pathLst>
              <a:path h="690000" w="692650">
                <a:moveTo>
                  <a:pt x="0" y="0"/>
                </a:moveTo>
                <a:lnTo>
                  <a:pt x="692650" y="0"/>
                </a:lnTo>
                <a:lnTo>
                  <a:pt x="692650" y="690000"/>
                </a:lnTo>
                <a:lnTo>
                  <a:pt x="0" y="690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132645" y="5487925"/>
            <a:ext cx="6470776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Sist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emas Customizados: Frameworks modernos como Laravel e Symfony são usados para construir ERPs e CRMs robustos [1].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716988" y="5497150"/>
            <a:ext cx="579200" cy="690300"/>
          </a:xfrm>
          <a:custGeom>
            <a:avLst/>
            <a:gdLst/>
            <a:ahLst/>
            <a:cxnLst/>
            <a:rect r="r" b="b" t="t" l="l"/>
            <a:pathLst>
              <a:path h="690300" w="579200">
                <a:moveTo>
                  <a:pt x="0" y="0"/>
                </a:moveTo>
                <a:lnTo>
                  <a:pt x="579200" y="0"/>
                </a:lnTo>
                <a:lnTo>
                  <a:pt x="579200" y="690300"/>
                </a:lnTo>
                <a:lnTo>
                  <a:pt x="0" y="6903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96188" y="5487625"/>
            <a:ext cx="6963112" cy="181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APIs 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 Microsserviços: O ganho expressivo de performance e a evolução da tipagem estática no PHP moderno permitem a criação de APIs rápidas, seguras e escaláveis para aplicações móveis e front-ends desacoplados [1].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437695" y="7794017"/>
            <a:ext cx="694950" cy="690300"/>
          </a:xfrm>
          <a:custGeom>
            <a:avLst/>
            <a:gdLst/>
            <a:ahLst/>
            <a:cxnLst/>
            <a:rect r="r" b="b" t="t" l="l"/>
            <a:pathLst>
              <a:path h="690300" w="694950">
                <a:moveTo>
                  <a:pt x="0" y="0"/>
                </a:moveTo>
                <a:lnTo>
                  <a:pt x="694950" y="0"/>
                </a:lnTo>
                <a:lnTo>
                  <a:pt x="694950" y="690300"/>
                </a:lnTo>
                <a:lnTo>
                  <a:pt x="0" y="6903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221725" y="7784492"/>
            <a:ext cx="6963112" cy="181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cripts CLI: Executa diretamente no terminal, sendo uma ferramenta poderosa para automação de tarefas cotidianas, rotinas de backup e processamento em segundo plano [2].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029" y="880533"/>
            <a:ext cx="17357748" cy="9211584"/>
          </a:xfrm>
          <a:custGeom>
            <a:avLst/>
            <a:gdLst/>
            <a:ahLst/>
            <a:cxnLst/>
            <a:rect r="r" b="b" t="t" l="l"/>
            <a:pathLst>
              <a:path h="9211584" w="17357748">
                <a:moveTo>
                  <a:pt x="0" y="0"/>
                </a:moveTo>
                <a:lnTo>
                  <a:pt x="17357748" y="0"/>
                </a:lnTo>
                <a:lnTo>
                  <a:pt x="17357748" y="9211584"/>
                </a:lnTo>
                <a:lnTo>
                  <a:pt x="0" y="9211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6500" y="2761162"/>
            <a:ext cx="16597970" cy="3861370"/>
          </a:xfrm>
          <a:custGeom>
            <a:avLst/>
            <a:gdLst/>
            <a:ahLst/>
            <a:cxnLst/>
            <a:rect r="r" b="b" t="t" l="l"/>
            <a:pathLst>
              <a:path h="3861370" w="16597970">
                <a:moveTo>
                  <a:pt x="0" y="0"/>
                </a:moveTo>
                <a:lnTo>
                  <a:pt x="16597970" y="0"/>
                </a:lnTo>
                <a:lnTo>
                  <a:pt x="16597970" y="3861370"/>
                </a:lnTo>
                <a:lnTo>
                  <a:pt x="0" y="38613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4500">
            <a:off x="1476792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4500">
            <a:off x="1463117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00">
            <a:off x="1449441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500">
            <a:off x="1435766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00">
            <a:off x="1422090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483975" y="-123525"/>
            <a:ext cx="6531800" cy="995550"/>
            <a:chOff x="0" y="0"/>
            <a:chExt cx="8709067" cy="1327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683" y="3683"/>
              <a:ext cx="8701659" cy="1323721"/>
            </a:xfrm>
            <a:custGeom>
              <a:avLst/>
              <a:gdLst/>
              <a:ahLst/>
              <a:cxnLst/>
              <a:rect r="r" b="b" t="t" l="l"/>
              <a:pathLst>
                <a:path h="1323721" w="8701659">
                  <a:moveTo>
                    <a:pt x="18034" y="0"/>
                  </a:moveTo>
                  <a:lnTo>
                    <a:pt x="1320038" y="1302004"/>
                  </a:lnTo>
                  <a:lnTo>
                    <a:pt x="1311021" y="1311021"/>
                  </a:lnTo>
                  <a:lnTo>
                    <a:pt x="1311021" y="1298321"/>
                  </a:lnTo>
                  <a:lnTo>
                    <a:pt x="6252337" y="1298321"/>
                  </a:lnTo>
                  <a:lnTo>
                    <a:pt x="6252337" y="1311021"/>
                  </a:lnTo>
                  <a:lnTo>
                    <a:pt x="6243320" y="1302004"/>
                  </a:lnTo>
                  <a:lnTo>
                    <a:pt x="6821551" y="723773"/>
                  </a:lnTo>
                  <a:cubicBezTo>
                    <a:pt x="6823964" y="721360"/>
                    <a:pt x="6827139" y="720090"/>
                    <a:pt x="6830568" y="720090"/>
                  </a:cubicBezTo>
                  <a:lnTo>
                    <a:pt x="8080121" y="720090"/>
                  </a:lnTo>
                  <a:lnTo>
                    <a:pt x="8080121" y="732790"/>
                  </a:lnTo>
                  <a:lnTo>
                    <a:pt x="8071104" y="723773"/>
                  </a:lnTo>
                  <a:lnTo>
                    <a:pt x="8683752" y="111252"/>
                  </a:lnTo>
                  <a:lnTo>
                    <a:pt x="8701659" y="129159"/>
                  </a:lnTo>
                  <a:lnTo>
                    <a:pt x="8089011" y="741807"/>
                  </a:lnTo>
                  <a:cubicBezTo>
                    <a:pt x="8086598" y="744220"/>
                    <a:pt x="8083423" y="745490"/>
                    <a:pt x="8079993" y="745490"/>
                  </a:cubicBezTo>
                  <a:lnTo>
                    <a:pt x="6830568" y="745490"/>
                  </a:lnTo>
                  <a:lnTo>
                    <a:pt x="6830568" y="732790"/>
                  </a:lnTo>
                  <a:lnTo>
                    <a:pt x="6839585" y="741807"/>
                  </a:lnTo>
                  <a:lnTo>
                    <a:pt x="6261354" y="1320038"/>
                  </a:lnTo>
                  <a:cubicBezTo>
                    <a:pt x="6258941" y="1322451"/>
                    <a:pt x="6255766" y="1323721"/>
                    <a:pt x="6252337" y="1323721"/>
                  </a:cubicBezTo>
                  <a:lnTo>
                    <a:pt x="1311021" y="1323721"/>
                  </a:lnTo>
                  <a:cubicBezTo>
                    <a:pt x="1307592" y="1323721"/>
                    <a:pt x="1304417" y="1322324"/>
                    <a:pt x="1302004" y="1320038"/>
                  </a:cubicBezTo>
                  <a:lnTo>
                    <a:pt x="0" y="18034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10875" y="6169625"/>
            <a:ext cx="998850" cy="4665200"/>
          </a:xfrm>
          <a:custGeom>
            <a:avLst/>
            <a:gdLst/>
            <a:ahLst/>
            <a:cxnLst/>
            <a:rect r="r" b="b" t="t" l="l"/>
            <a:pathLst>
              <a:path h="4665200" w="998850">
                <a:moveTo>
                  <a:pt x="0" y="0"/>
                </a:moveTo>
                <a:lnTo>
                  <a:pt x="998850" y="0"/>
                </a:lnTo>
                <a:lnTo>
                  <a:pt x="998850" y="4665200"/>
                </a:lnTo>
                <a:lnTo>
                  <a:pt x="0" y="4665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737667" y="2416162"/>
            <a:ext cx="692650" cy="690000"/>
          </a:xfrm>
          <a:custGeom>
            <a:avLst/>
            <a:gdLst/>
            <a:ahLst/>
            <a:cxnLst/>
            <a:rect r="r" b="b" t="t" l="l"/>
            <a:pathLst>
              <a:path h="690000" w="692650">
                <a:moveTo>
                  <a:pt x="0" y="0"/>
                </a:moveTo>
                <a:lnTo>
                  <a:pt x="692650" y="0"/>
                </a:lnTo>
                <a:lnTo>
                  <a:pt x="692650" y="690000"/>
                </a:lnTo>
                <a:lnTo>
                  <a:pt x="0" y="690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31425" y="962425"/>
            <a:ext cx="1522515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Vantagens</a:t>
            </a: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 desvantagens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62486" y="2387587"/>
            <a:ext cx="43375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Vantagem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98149" y="2909100"/>
            <a:ext cx="7751905" cy="507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Facilidade</a:t>
            </a: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de Hospedagem e Deploy: Praticamente qualquer servidor no mundo roda PHP nativamente de forma barata e descomplicada.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Ecossistema Gigante: A comunidade é massiva, o que significa que qualquer problema que você enfrentar já foi resolvido por alguém no Stack Overflow ou GitHub.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Laravel e Symfony: O ecossistema de frameworks moderno é maduro, seguro e acelera o desenvolvimento de sistemas complexos de forma impressionante.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Performance Atual: Com o PHP 7 e 8, a linguagem deixou de ser lenta e passou a competir de frente com outras tecnologias de back-end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029" y="880533"/>
            <a:ext cx="17357748" cy="9211584"/>
          </a:xfrm>
          <a:custGeom>
            <a:avLst/>
            <a:gdLst/>
            <a:ahLst/>
            <a:cxnLst/>
            <a:rect r="r" b="b" t="t" l="l"/>
            <a:pathLst>
              <a:path h="9211584" w="17357748">
                <a:moveTo>
                  <a:pt x="0" y="0"/>
                </a:moveTo>
                <a:lnTo>
                  <a:pt x="17357748" y="0"/>
                </a:lnTo>
                <a:lnTo>
                  <a:pt x="17357748" y="9211584"/>
                </a:lnTo>
                <a:lnTo>
                  <a:pt x="0" y="9211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6500" y="2761162"/>
            <a:ext cx="16597970" cy="3861370"/>
          </a:xfrm>
          <a:custGeom>
            <a:avLst/>
            <a:gdLst/>
            <a:ahLst/>
            <a:cxnLst/>
            <a:rect r="r" b="b" t="t" l="l"/>
            <a:pathLst>
              <a:path h="3861370" w="16597970">
                <a:moveTo>
                  <a:pt x="0" y="0"/>
                </a:moveTo>
                <a:lnTo>
                  <a:pt x="16597970" y="0"/>
                </a:lnTo>
                <a:lnTo>
                  <a:pt x="16597970" y="3861370"/>
                </a:lnTo>
                <a:lnTo>
                  <a:pt x="0" y="38613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4500">
            <a:off x="1476792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4500">
            <a:off x="1463117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00">
            <a:off x="1449441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500">
            <a:off x="14357662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00">
            <a:off x="14220907" y="-102760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483975" y="-123525"/>
            <a:ext cx="6531800" cy="995550"/>
            <a:chOff x="0" y="0"/>
            <a:chExt cx="8709067" cy="1327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683" y="3683"/>
              <a:ext cx="8701659" cy="1323721"/>
            </a:xfrm>
            <a:custGeom>
              <a:avLst/>
              <a:gdLst/>
              <a:ahLst/>
              <a:cxnLst/>
              <a:rect r="r" b="b" t="t" l="l"/>
              <a:pathLst>
                <a:path h="1323721" w="8701659">
                  <a:moveTo>
                    <a:pt x="18034" y="0"/>
                  </a:moveTo>
                  <a:lnTo>
                    <a:pt x="1320038" y="1302004"/>
                  </a:lnTo>
                  <a:lnTo>
                    <a:pt x="1311021" y="1311021"/>
                  </a:lnTo>
                  <a:lnTo>
                    <a:pt x="1311021" y="1298321"/>
                  </a:lnTo>
                  <a:lnTo>
                    <a:pt x="6252337" y="1298321"/>
                  </a:lnTo>
                  <a:lnTo>
                    <a:pt x="6252337" y="1311021"/>
                  </a:lnTo>
                  <a:lnTo>
                    <a:pt x="6243320" y="1302004"/>
                  </a:lnTo>
                  <a:lnTo>
                    <a:pt x="6821551" y="723773"/>
                  </a:lnTo>
                  <a:cubicBezTo>
                    <a:pt x="6823964" y="721360"/>
                    <a:pt x="6827139" y="720090"/>
                    <a:pt x="6830568" y="720090"/>
                  </a:cubicBezTo>
                  <a:lnTo>
                    <a:pt x="8080121" y="720090"/>
                  </a:lnTo>
                  <a:lnTo>
                    <a:pt x="8080121" y="732790"/>
                  </a:lnTo>
                  <a:lnTo>
                    <a:pt x="8071104" y="723773"/>
                  </a:lnTo>
                  <a:lnTo>
                    <a:pt x="8683752" y="111252"/>
                  </a:lnTo>
                  <a:lnTo>
                    <a:pt x="8701659" y="129159"/>
                  </a:lnTo>
                  <a:lnTo>
                    <a:pt x="8089011" y="741807"/>
                  </a:lnTo>
                  <a:cubicBezTo>
                    <a:pt x="8086598" y="744220"/>
                    <a:pt x="8083423" y="745490"/>
                    <a:pt x="8079993" y="745490"/>
                  </a:cubicBezTo>
                  <a:lnTo>
                    <a:pt x="6830568" y="745490"/>
                  </a:lnTo>
                  <a:lnTo>
                    <a:pt x="6830568" y="732790"/>
                  </a:lnTo>
                  <a:lnTo>
                    <a:pt x="6839585" y="741807"/>
                  </a:lnTo>
                  <a:lnTo>
                    <a:pt x="6261354" y="1320038"/>
                  </a:lnTo>
                  <a:cubicBezTo>
                    <a:pt x="6258941" y="1322451"/>
                    <a:pt x="6255766" y="1323721"/>
                    <a:pt x="6252337" y="1323721"/>
                  </a:cubicBezTo>
                  <a:lnTo>
                    <a:pt x="1311021" y="1323721"/>
                  </a:lnTo>
                  <a:cubicBezTo>
                    <a:pt x="1307592" y="1323721"/>
                    <a:pt x="1304417" y="1322324"/>
                    <a:pt x="1302004" y="1320038"/>
                  </a:cubicBezTo>
                  <a:lnTo>
                    <a:pt x="0" y="18034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10875" y="6169625"/>
            <a:ext cx="998850" cy="4665200"/>
          </a:xfrm>
          <a:custGeom>
            <a:avLst/>
            <a:gdLst/>
            <a:ahLst/>
            <a:cxnLst/>
            <a:rect r="r" b="b" t="t" l="l"/>
            <a:pathLst>
              <a:path h="4665200" w="998850">
                <a:moveTo>
                  <a:pt x="0" y="0"/>
                </a:moveTo>
                <a:lnTo>
                  <a:pt x="998850" y="0"/>
                </a:lnTo>
                <a:lnTo>
                  <a:pt x="998850" y="4665200"/>
                </a:lnTo>
                <a:lnTo>
                  <a:pt x="0" y="4665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718949" y="2313900"/>
            <a:ext cx="579200" cy="690300"/>
          </a:xfrm>
          <a:custGeom>
            <a:avLst/>
            <a:gdLst/>
            <a:ahLst/>
            <a:cxnLst/>
            <a:rect r="r" b="b" t="t" l="l"/>
            <a:pathLst>
              <a:path h="690300" w="579200">
                <a:moveTo>
                  <a:pt x="0" y="0"/>
                </a:moveTo>
                <a:lnTo>
                  <a:pt x="579200" y="0"/>
                </a:lnTo>
                <a:lnTo>
                  <a:pt x="579200" y="690300"/>
                </a:lnTo>
                <a:lnTo>
                  <a:pt x="0" y="6903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31425" y="962425"/>
            <a:ext cx="1522515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Vantagens</a:t>
            </a: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 desvantagens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62486" y="2387587"/>
            <a:ext cx="43375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Desvantagem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98149" y="2994674"/>
            <a:ext cx="9734433" cy="507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Dívida Histórica e Preconceito: A linguagem carrega a fama ruim dos anos 2000 (PHP 4/5). Muito programador antigo ou iniciante influenciado por fóruns ainda repete que a linguagem é ruim sem conhecer o PHP 8.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Liberdade Excessiva para Iniciantes: O PHP é muito permissivo. Se o desenvolvedor não tiver a virtude da diligência, ele pode facilmente escrever um código bagunçado e inseguro ("código espaguete").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Não é Ideal para Concorrência Massiva Nativa: Embora existam soluções modernas como Swoole e RoadRunner, o modelo padrão de execução do PHP (onde cada requisição inicia e morre) não é o mais focado para aplicações que exigem conexões persistentes massivas em tempo real (como chats gigantes ou jogos), onde o Node.js ou Go se destacam mais facilmente.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4626" y="7477323"/>
            <a:ext cx="17485117" cy="2217041"/>
          </a:xfrm>
          <a:custGeom>
            <a:avLst/>
            <a:gdLst/>
            <a:ahLst/>
            <a:cxnLst/>
            <a:rect r="r" b="b" t="t" l="l"/>
            <a:pathLst>
              <a:path h="2217041" w="17485117">
                <a:moveTo>
                  <a:pt x="0" y="0"/>
                </a:moveTo>
                <a:lnTo>
                  <a:pt x="17485117" y="0"/>
                </a:lnTo>
                <a:lnTo>
                  <a:pt x="17485117" y="2217041"/>
                </a:lnTo>
                <a:lnTo>
                  <a:pt x="0" y="221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7640" y="2519378"/>
            <a:ext cx="17379020" cy="5820974"/>
          </a:xfrm>
          <a:custGeom>
            <a:avLst/>
            <a:gdLst/>
            <a:ahLst/>
            <a:cxnLst/>
            <a:rect r="r" b="b" t="t" l="l"/>
            <a:pathLst>
              <a:path h="5820974" w="17379020">
                <a:moveTo>
                  <a:pt x="0" y="0"/>
                </a:moveTo>
                <a:lnTo>
                  <a:pt x="17379020" y="0"/>
                </a:lnTo>
                <a:lnTo>
                  <a:pt x="17379020" y="5820974"/>
                </a:lnTo>
                <a:lnTo>
                  <a:pt x="0" y="58209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58868" y="5859297"/>
            <a:ext cx="719998" cy="992015"/>
          </a:xfrm>
          <a:custGeom>
            <a:avLst/>
            <a:gdLst/>
            <a:ahLst/>
            <a:cxnLst/>
            <a:rect r="r" b="b" t="t" l="l"/>
            <a:pathLst>
              <a:path h="992015" w="719998">
                <a:moveTo>
                  <a:pt x="0" y="0"/>
                </a:moveTo>
                <a:lnTo>
                  <a:pt x="719998" y="0"/>
                </a:lnTo>
                <a:lnTo>
                  <a:pt x="719998" y="992015"/>
                </a:lnTo>
                <a:lnTo>
                  <a:pt x="0" y="9920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rot="4500">
            <a:off x="17010461" y="3907108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00">
            <a:off x="17010461" y="3770353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500">
            <a:off x="17010461" y="3633598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00">
            <a:off x="17010461" y="3496843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4500">
            <a:off x="17010461" y="3360088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5400000">
            <a:off x="14233815" y="2425015"/>
            <a:ext cx="6531800" cy="995550"/>
            <a:chOff x="0" y="0"/>
            <a:chExt cx="8709067" cy="1327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683" y="3683"/>
              <a:ext cx="8701659" cy="1323721"/>
            </a:xfrm>
            <a:custGeom>
              <a:avLst/>
              <a:gdLst/>
              <a:ahLst/>
              <a:cxnLst/>
              <a:rect r="r" b="b" t="t" l="l"/>
              <a:pathLst>
                <a:path h="1323721" w="8701659">
                  <a:moveTo>
                    <a:pt x="18034" y="0"/>
                  </a:moveTo>
                  <a:lnTo>
                    <a:pt x="1320038" y="1302004"/>
                  </a:lnTo>
                  <a:lnTo>
                    <a:pt x="1311021" y="1311021"/>
                  </a:lnTo>
                  <a:lnTo>
                    <a:pt x="1311021" y="1298321"/>
                  </a:lnTo>
                  <a:lnTo>
                    <a:pt x="6252337" y="1298321"/>
                  </a:lnTo>
                  <a:lnTo>
                    <a:pt x="6252337" y="1311021"/>
                  </a:lnTo>
                  <a:lnTo>
                    <a:pt x="6243320" y="1302004"/>
                  </a:lnTo>
                  <a:lnTo>
                    <a:pt x="6821551" y="723773"/>
                  </a:lnTo>
                  <a:cubicBezTo>
                    <a:pt x="6823964" y="721360"/>
                    <a:pt x="6827139" y="720090"/>
                    <a:pt x="6830568" y="720090"/>
                  </a:cubicBezTo>
                  <a:lnTo>
                    <a:pt x="8080121" y="720090"/>
                  </a:lnTo>
                  <a:lnTo>
                    <a:pt x="8080121" y="732790"/>
                  </a:lnTo>
                  <a:lnTo>
                    <a:pt x="8071104" y="723773"/>
                  </a:lnTo>
                  <a:lnTo>
                    <a:pt x="8683752" y="111252"/>
                  </a:lnTo>
                  <a:lnTo>
                    <a:pt x="8701659" y="129159"/>
                  </a:lnTo>
                  <a:lnTo>
                    <a:pt x="8089011" y="741807"/>
                  </a:lnTo>
                  <a:cubicBezTo>
                    <a:pt x="8086598" y="744220"/>
                    <a:pt x="8083423" y="745490"/>
                    <a:pt x="8079993" y="745490"/>
                  </a:cubicBezTo>
                  <a:lnTo>
                    <a:pt x="6830568" y="745490"/>
                  </a:lnTo>
                  <a:lnTo>
                    <a:pt x="6830568" y="732790"/>
                  </a:lnTo>
                  <a:lnTo>
                    <a:pt x="6839585" y="741807"/>
                  </a:lnTo>
                  <a:lnTo>
                    <a:pt x="6261354" y="1320038"/>
                  </a:lnTo>
                  <a:cubicBezTo>
                    <a:pt x="6258941" y="1322451"/>
                    <a:pt x="6255766" y="1323721"/>
                    <a:pt x="6252337" y="1323721"/>
                  </a:cubicBezTo>
                  <a:lnTo>
                    <a:pt x="1311021" y="1323721"/>
                  </a:lnTo>
                  <a:cubicBezTo>
                    <a:pt x="1307592" y="1323721"/>
                    <a:pt x="1304417" y="1322324"/>
                    <a:pt x="1302004" y="1320038"/>
                  </a:cubicBezTo>
                  <a:lnTo>
                    <a:pt x="0" y="18034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71425" y="5290625"/>
            <a:ext cx="1182150" cy="4848650"/>
            <a:chOff x="0" y="0"/>
            <a:chExt cx="1576200" cy="64648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683" y="3683"/>
              <a:ext cx="1568831" cy="6457315"/>
            </a:xfrm>
            <a:custGeom>
              <a:avLst/>
              <a:gdLst/>
              <a:ahLst/>
              <a:cxnLst/>
              <a:rect r="r" b="b" t="t" l="l"/>
              <a:pathLst>
                <a:path h="6457315" w="1568831">
                  <a:moveTo>
                    <a:pt x="18034" y="0"/>
                  </a:moveTo>
                  <a:lnTo>
                    <a:pt x="1239139" y="1221232"/>
                  </a:lnTo>
                  <a:cubicBezTo>
                    <a:pt x="1241552" y="1223645"/>
                    <a:pt x="1242822" y="1226820"/>
                    <a:pt x="1242822" y="1230249"/>
                  </a:cubicBezTo>
                  <a:lnTo>
                    <a:pt x="1242822" y="3907028"/>
                  </a:lnTo>
                  <a:cubicBezTo>
                    <a:pt x="1242822" y="3910457"/>
                    <a:pt x="1241425" y="3913632"/>
                    <a:pt x="1239139" y="3916045"/>
                  </a:cubicBezTo>
                  <a:lnTo>
                    <a:pt x="709549" y="4445762"/>
                  </a:lnTo>
                  <a:lnTo>
                    <a:pt x="700532" y="4436745"/>
                  </a:lnTo>
                  <a:lnTo>
                    <a:pt x="713232" y="4436745"/>
                  </a:lnTo>
                  <a:lnTo>
                    <a:pt x="713232" y="5589143"/>
                  </a:lnTo>
                  <a:lnTo>
                    <a:pt x="700532" y="5589143"/>
                  </a:lnTo>
                  <a:lnTo>
                    <a:pt x="709549" y="5580126"/>
                  </a:lnTo>
                  <a:lnTo>
                    <a:pt x="1568831" y="6439408"/>
                  </a:lnTo>
                  <a:lnTo>
                    <a:pt x="1550924" y="6457315"/>
                  </a:lnTo>
                  <a:lnTo>
                    <a:pt x="691642" y="5598033"/>
                  </a:lnTo>
                  <a:cubicBezTo>
                    <a:pt x="689229" y="5595620"/>
                    <a:pt x="687959" y="5592445"/>
                    <a:pt x="687959" y="5589016"/>
                  </a:cubicBezTo>
                  <a:lnTo>
                    <a:pt x="687959" y="4436872"/>
                  </a:lnTo>
                  <a:cubicBezTo>
                    <a:pt x="687959" y="4433443"/>
                    <a:pt x="689356" y="4430268"/>
                    <a:pt x="691642" y="4427855"/>
                  </a:cubicBezTo>
                  <a:lnTo>
                    <a:pt x="1221359" y="3898138"/>
                  </a:lnTo>
                  <a:lnTo>
                    <a:pt x="1230376" y="3907155"/>
                  </a:lnTo>
                  <a:lnTo>
                    <a:pt x="1217676" y="3907155"/>
                  </a:lnTo>
                  <a:lnTo>
                    <a:pt x="1217676" y="1230249"/>
                  </a:lnTo>
                  <a:lnTo>
                    <a:pt x="1230376" y="1230249"/>
                  </a:lnTo>
                  <a:lnTo>
                    <a:pt x="1221359" y="1239266"/>
                  </a:lnTo>
                  <a:lnTo>
                    <a:pt x="0" y="18034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723919" y="2755746"/>
            <a:ext cx="690250" cy="690300"/>
          </a:xfrm>
          <a:custGeom>
            <a:avLst/>
            <a:gdLst/>
            <a:ahLst/>
            <a:cxnLst/>
            <a:rect r="r" b="b" t="t" l="l"/>
            <a:pathLst>
              <a:path h="690300" w="690250">
                <a:moveTo>
                  <a:pt x="0" y="0"/>
                </a:moveTo>
                <a:lnTo>
                  <a:pt x="690250" y="0"/>
                </a:lnTo>
                <a:lnTo>
                  <a:pt x="690250" y="690300"/>
                </a:lnTo>
                <a:lnTo>
                  <a:pt x="0" y="6903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127170" y="2810041"/>
            <a:ext cx="690300" cy="690300"/>
          </a:xfrm>
          <a:custGeom>
            <a:avLst/>
            <a:gdLst/>
            <a:ahLst/>
            <a:cxnLst/>
            <a:rect r="r" b="b" t="t" l="l"/>
            <a:pathLst>
              <a:path h="690300" w="690300">
                <a:moveTo>
                  <a:pt x="0" y="0"/>
                </a:moveTo>
                <a:lnTo>
                  <a:pt x="690300" y="0"/>
                </a:lnTo>
                <a:lnTo>
                  <a:pt x="690300" y="690300"/>
                </a:lnTo>
                <a:lnTo>
                  <a:pt x="0" y="6903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88175" y="2701274"/>
            <a:ext cx="610950" cy="690350"/>
          </a:xfrm>
          <a:custGeom>
            <a:avLst/>
            <a:gdLst/>
            <a:ahLst/>
            <a:cxnLst/>
            <a:rect r="r" b="b" t="t" l="l"/>
            <a:pathLst>
              <a:path h="690350" w="610950">
                <a:moveTo>
                  <a:pt x="0" y="0"/>
                </a:moveTo>
                <a:lnTo>
                  <a:pt x="610950" y="0"/>
                </a:lnTo>
                <a:lnTo>
                  <a:pt x="610950" y="690351"/>
                </a:lnTo>
                <a:lnTo>
                  <a:pt x="0" y="69035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88175" y="3446046"/>
            <a:ext cx="3440815" cy="3967638"/>
          </a:xfrm>
          <a:custGeom>
            <a:avLst/>
            <a:gdLst/>
            <a:ahLst/>
            <a:cxnLst/>
            <a:rect r="r" b="b" t="t" l="l"/>
            <a:pathLst>
              <a:path h="3967638" w="3440815">
                <a:moveTo>
                  <a:pt x="0" y="0"/>
                </a:moveTo>
                <a:lnTo>
                  <a:pt x="3440815" y="0"/>
                </a:lnTo>
                <a:lnTo>
                  <a:pt x="3440815" y="3967638"/>
                </a:lnTo>
                <a:lnTo>
                  <a:pt x="0" y="396763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568813" y="3458790"/>
            <a:ext cx="4018533" cy="4018533"/>
          </a:xfrm>
          <a:custGeom>
            <a:avLst/>
            <a:gdLst/>
            <a:ahLst/>
            <a:cxnLst/>
            <a:rect r="r" b="b" t="t" l="l"/>
            <a:pathLst>
              <a:path h="4018533" w="4018533">
                <a:moveTo>
                  <a:pt x="0" y="0"/>
                </a:moveTo>
                <a:lnTo>
                  <a:pt x="4018534" y="0"/>
                </a:lnTo>
                <a:lnTo>
                  <a:pt x="4018534" y="4018533"/>
                </a:lnTo>
                <a:lnTo>
                  <a:pt x="0" y="401853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130397" y="3502870"/>
            <a:ext cx="4083661" cy="4083661"/>
          </a:xfrm>
          <a:custGeom>
            <a:avLst/>
            <a:gdLst/>
            <a:ahLst/>
            <a:cxnLst/>
            <a:rect r="r" b="b" t="t" l="l"/>
            <a:pathLst>
              <a:path h="4083661" w="4083661">
                <a:moveTo>
                  <a:pt x="0" y="0"/>
                </a:moveTo>
                <a:lnTo>
                  <a:pt x="4083661" y="0"/>
                </a:lnTo>
                <a:lnTo>
                  <a:pt x="4083661" y="4083662"/>
                </a:lnTo>
                <a:lnTo>
                  <a:pt x="0" y="40836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503550" y="2774987"/>
            <a:ext cx="54391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Wikipedia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31425" y="1063283"/>
            <a:ext cx="1522515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Empresas que utilizam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31350" y="2849236"/>
            <a:ext cx="54391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Yahoo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70500" y="2883728"/>
            <a:ext cx="54391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Facebook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35889" y="361705"/>
            <a:ext cx="992015" cy="719998"/>
          </a:xfrm>
          <a:custGeom>
            <a:avLst/>
            <a:gdLst/>
            <a:ahLst/>
            <a:cxnLst/>
            <a:rect r="r" b="b" t="t" l="l"/>
            <a:pathLst>
              <a:path h="719998" w="992015">
                <a:moveTo>
                  <a:pt x="0" y="0"/>
                </a:moveTo>
                <a:lnTo>
                  <a:pt x="992015" y="0"/>
                </a:lnTo>
                <a:lnTo>
                  <a:pt x="992015" y="719998"/>
                </a:lnTo>
                <a:lnTo>
                  <a:pt x="0" y="7199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4500">
            <a:off x="-838451" y="8493608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4500">
            <a:off x="-838451" y="8356853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4500">
            <a:off x="-838451" y="8220098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00">
            <a:off x="-838451" y="8083343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500">
            <a:off x="-838451" y="7946588"/>
            <a:ext cx="1932529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-5400000">
            <a:off x="-1294653" y="8136657"/>
            <a:ext cx="4155298" cy="639226"/>
            <a:chOff x="0" y="0"/>
            <a:chExt cx="5540397" cy="8523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683" y="3683"/>
              <a:ext cx="5533009" cy="848614"/>
            </a:xfrm>
            <a:custGeom>
              <a:avLst/>
              <a:gdLst/>
              <a:ahLst/>
              <a:cxnLst/>
              <a:rect r="r" b="b" t="t" l="l"/>
              <a:pathLst>
                <a:path h="848614" w="5533009">
                  <a:moveTo>
                    <a:pt x="5533009" y="18034"/>
                  </a:moveTo>
                  <a:lnTo>
                    <a:pt x="4706112" y="844931"/>
                  </a:lnTo>
                  <a:cubicBezTo>
                    <a:pt x="4703699" y="847344"/>
                    <a:pt x="4700524" y="848614"/>
                    <a:pt x="4697095" y="848614"/>
                  </a:cubicBezTo>
                  <a:lnTo>
                    <a:pt x="1558925" y="848614"/>
                  </a:lnTo>
                  <a:cubicBezTo>
                    <a:pt x="1555496" y="848614"/>
                    <a:pt x="1552321" y="847217"/>
                    <a:pt x="1549908" y="844931"/>
                  </a:cubicBezTo>
                  <a:lnTo>
                    <a:pt x="1182624" y="477647"/>
                  </a:lnTo>
                  <a:lnTo>
                    <a:pt x="1191641" y="468630"/>
                  </a:lnTo>
                  <a:lnTo>
                    <a:pt x="1191641" y="481330"/>
                  </a:lnTo>
                  <a:lnTo>
                    <a:pt x="398018" y="481330"/>
                  </a:lnTo>
                  <a:cubicBezTo>
                    <a:pt x="394589" y="481330"/>
                    <a:pt x="391414" y="479933"/>
                    <a:pt x="389001" y="477647"/>
                  </a:cubicBezTo>
                  <a:lnTo>
                    <a:pt x="0" y="88646"/>
                  </a:lnTo>
                  <a:lnTo>
                    <a:pt x="18034" y="70612"/>
                  </a:lnTo>
                  <a:lnTo>
                    <a:pt x="407035" y="459740"/>
                  </a:lnTo>
                  <a:lnTo>
                    <a:pt x="398018" y="468757"/>
                  </a:lnTo>
                  <a:lnTo>
                    <a:pt x="398018" y="456057"/>
                  </a:lnTo>
                  <a:lnTo>
                    <a:pt x="1191641" y="456057"/>
                  </a:lnTo>
                  <a:cubicBezTo>
                    <a:pt x="1195070" y="456057"/>
                    <a:pt x="1198245" y="457454"/>
                    <a:pt x="1200658" y="459740"/>
                  </a:cubicBezTo>
                  <a:lnTo>
                    <a:pt x="1567815" y="826897"/>
                  </a:lnTo>
                  <a:lnTo>
                    <a:pt x="1558798" y="835914"/>
                  </a:lnTo>
                  <a:lnTo>
                    <a:pt x="1558798" y="823214"/>
                  </a:lnTo>
                  <a:lnTo>
                    <a:pt x="4696968" y="823214"/>
                  </a:lnTo>
                  <a:lnTo>
                    <a:pt x="4696968" y="835914"/>
                  </a:lnTo>
                  <a:lnTo>
                    <a:pt x="4687951" y="826897"/>
                  </a:lnTo>
                  <a:lnTo>
                    <a:pt x="5514975" y="0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136877" y="-1108325"/>
            <a:ext cx="1848956" cy="7617460"/>
            <a:chOff x="0" y="0"/>
            <a:chExt cx="2465275" cy="101566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683" y="3683"/>
              <a:ext cx="2457831" cy="10149205"/>
            </a:xfrm>
            <a:custGeom>
              <a:avLst/>
              <a:gdLst/>
              <a:ahLst/>
              <a:cxnLst/>
              <a:rect r="r" b="b" t="t" l="l"/>
              <a:pathLst>
                <a:path h="10149205" w="2457831">
                  <a:moveTo>
                    <a:pt x="2457831" y="18034"/>
                  </a:moveTo>
                  <a:lnTo>
                    <a:pt x="536575" y="1939290"/>
                  </a:lnTo>
                  <a:lnTo>
                    <a:pt x="527558" y="1930273"/>
                  </a:lnTo>
                  <a:lnTo>
                    <a:pt x="540258" y="1930273"/>
                  </a:lnTo>
                  <a:lnTo>
                    <a:pt x="540258" y="6141847"/>
                  </a:lnTo>
                  <a:lnTo>
                    <a:pt x="527558" y="6141847"/>
                  </a:lnTo>
                  <a:lnTo>
                    <a:pt x="536575" y="6132830"/>
                  </a:lnTo>
                  <a:lnTo>
                    <a:pt x="1369949" y="6966204"/>
                  </a:lnTo>
                  <a:cubicBezTo>
                    <a:pt x="1372362" y="6968617"/>
                    <a:pt x="1373632" y="6971792"/>
                    <a:pt x="1373632" y="6975221"/>
                  </a:cubicBezTo>
                  <a:lnTo>
                    <a:pt x="1373632" y="8788400"/>
                  </a:lnTo>
                  <a:cubicBezTo>
                    <a:pt x="1373632" y="8791829"/>
                    <a:pt x="1372235" y="8795004"/>
                    <a:pt x="1369949" y="8797417"/>
                  </a:cubicBezTo>
                  <a:lnTo>
                    <a:pt x="18034" y="10149205"/>
                  </a:lnTo>
                  <a:lnTo>
                    <a:pt x="0" y="10131298"/>
                  </a:lnTo>
                  <a:lnTo>
                    <a:pt x="1351915" y="8779383"/>
                  </a:lnTo>
                  <a:lnTo>
                    <a:pt x="1360932" y="8788400"/>
                  </a:lnTo>
                  <a:lnTo>
                    <a:pt x="1348232" y="8788400"/>
                  </a:lnTo>
                  <a:lnTo>
                    <a:pt x="1348232" y="6975221"/>
                  </a:lnTo>
                  <a:lnTo>
                    <a:pt x="1360932" y="6975221"/>
                  </a:lnTo>
                  <a:lnTo>
                    <a:pt x="1351915" y="6984239"/>
                  </a:lnTo>
                  <a:lnTo>
                    <a:pt x="518541" y="6150864"/>
                  </a:lnTo>
                  <a:cubicBezTo>
                    <a:pt x="516128" y="6148451"/>
                    <a:pt x="514858" y="6145276"/>
                    <a:pt x="514858" y="6141847"/>
                  </a:cubicBezTo>
                  <a:lnTo>
                    <a:pt x="514858" y="1930273"/>
                  </a:lnTo>
                  <a:cubicBezTo>
                    <a:pt x="514858" y="1926844"/>
                    <a:pt x="516255" y="1923669"/>
                    <a:pt x="518541" y="1921256"/>
                  </a:cubicBezTo>
                  <a:lnTo>
                    <a:pt x="2439924" y="0"/>
                  </a:lnTo>
                  <a:close/>
                </a:path>
              </a:pathLst>
            </a:custGeom>
            <a:solidFill>
              <a:srgbClr val="69639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-5400000">
            <a:off x="1014670" y="1265494"/>
            <a:ext cx="456150" cy="394500"/>
            <a:chOff x="0" y="0"/>
            <a:chExt cx="608200" cy="52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8203" cy="526034"/>
            </a:xfrm>
            <a:custGeom>
              <a:avLst/>
              <a:gdLst/>
              <a:ahLst/>
              <a:cxnLst/>
              <a:rect r="r" b="b" t="t" l="l"/>
              <a:pathLst>
                <a:path h="526034" w="608203">
                  <a:moveTo>
                    <a:pt x="0" y="0"/>
                  </a:moveTo>
                  <a:lnTo>
                    <a:pt x="608203" y="0"/>
                  </a:lnTo>
                  <a:lnTo>
                    <a:pt x="304038" y="526034"/>
                  </a:lnTo>
                  <a:close/>
                </a:path>
              </a:pathLst>
            </a:custGeom>
            <a:solidFill>
              <a:srgbClr val="00CAD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35141" y="1048406"/>
            <a:ext cx="1522515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Curiosidades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3390" y="2358838"/>
            <a:ext cx="9734433" cy="488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Código aberto: o php e uma linguagem de codigo fonte aberto, com isso pessoa podem ajudar a melhorar o codigo fonte do php.</a:t>
            </a:r>
          </a:p>
          <a:p>
            <a:pPr algn="l">
              <a:lnSpc>
                <a:spcPts val="3840"/>
              </a:lnSpc>
            </a:pP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Popularidade: o php e uma das linguagem mais usadas no mundo no desenvolvimento web.</a:t>
            </a:r>
          </a:p>
          <a:p>
            <a:pPr algn="l">
              <a:lnSpc>
                <a:spcPts val="3840"/>
              </a:lnSpc>
            </a:pP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amplo suporte: o php tem uma ampla biblioteca de “ funções embutidas”, isso facilita o desenvolvedores com soluçoes prontas.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6498222" y="350746"/>
            <a:ext cx="80112" cy="881760"/>
            <a:chOff x="0" y="0"/>
            <a:chExt cx="106816" cy="1175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0"/>
              <a:ext cx="106807" cy="1175512"/>
            </a:xfrm>
            <a:custGeom>
              <a:avLst/>
              <a:gdLst/>
              <a:ahLst/>
              <a:cxnLst/>
              <a:rect r="r" b="b" t="t" l="l"/>
              <a:pathLst>
                <a:path h="1175512" w="106807">
                  <a:moveTo>
                    <a:pt x="53340" y="127"/>
                  </a:moveTo>
                  <a:cubicBezTo>
                    <a:pt x="22225" y="127"/>
                    <a:pt x="0" y="22352"/>
                    <a:pt x="0" y="53340"/>
                  </a:cubicBezTo>
                  <a:lnTo>
                    <a:pt x="0" y="1122172"/>
                  </a:lnTo>
                  <a:cubicBezTo>
                    <a:pt x="0" y="1150620"/>
                    <a:pt x="22225" y="1175512"/>
                    <a:pt x="53340" y="1175512"/>
                  </a:cubicBezTo>
                  <a:cubicBezTo>
                    <a:pt x="81788" y="1175512"/>
                    <a:pt x="106807" y="1150493"/>
                    <a:pt x="106807" y="1122172"/>
                  </a:cubicBezTo>
                  <a:lnTo>
                    <a:pt x="106807" y="53340"/>
                  </a:lnTo>
                  <a:cubicBezTo>
                    <a:pt x="106807" y="22352"/>
                    <a:pt x="81788" y="0"/>
                    <a:pt x="53340" y="0"/>
                  </a:cubicBezTo>
                  <a:close/>
                </a:path>
              </a:pathLst>
            </a:custGeom>
            <a:solidFill>
              <a:srgbClr val="AFAFB6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137375" y="-9525"/>
            <a:ext cx="15706704" cy="2241736"/>
          </a:xfrm>
          <a:custGeom>
            <a:avLst/>
            <a:gdLst/>
            <a:ahLst/>
            <a:cxnLst/>
            <a:rect r="r" b="b" t="t" l="l"/>
            <a:pathLst>
              <a:path h="2241736" w="15706704">
                <a:moveTo>
                  <a:pt x="0" y="0"/>
                </a:moveTo>
                <a:lnTo>
                  <a:pt x="15706704" y="0"/>
                </a:lnTo>
                <a:lnTo>
                  <a:pt x="15706704" y="2241736"/>
                </a:lnTo>
                <a:lnTo>
                  <a:pt x="0" y="224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95752" y="4419600"/>
            <a:ext cx="6642709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OBRIGADO!</a:t>
            </a:r>
          </a:p>
        </p:txBody>
      </p:sp>
      <p:sp>
        <p:nvSpPr>
          <p:cNvPr name="AutoShape 6" id="6"/>
          <p:cNvSpPr/>
          <p:nvPr/>
        </p:nvSpPr>
        <p:spPr>
          <a:xfrm rot="5394431">
            <a:off x="14679728" y="10189353"/>
            <a:ext cx="5347483" cy="0"/>
          </a:xfrm>
          <a:prstGeom prst="line">
            <a:avLst/>
          </a:prstGeom>
          <a:ln cap="rnd" w="9525">
            <a:solidFill>
              <a:srgbClr val="AFA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2674203">
            <a:off x="16081073" y="6999210"/>
            <a:ext cx="1491162" cy="0"/>
          </a:xfrm>
          <a:prstGeom prst="line">
            <a:avLst/>
          </a:prstGeom>
          <a:ln cap="rnd" w="9525">
            <a:solidFill>
              <a:srgbClr val="AFA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986705" y="6133459"/>
            <a:ext cx="391361" cy="395518"/>
          </a:xfrm>
          <a:custGeom>
            <a:avLst/>
            <a:gdLst/>
            <a:ahLst/>
            <a:cxnLst/>
            <a:rect r="r" b="b" t="t" l="l"/>
            <a:pathLst>
              <a:path h="395518" w="391361">
                <a:moveTo>
                  <a:pt x="0" y="0"/>
                </a:moveTo>
                <a:lnTo>
                  <a:pt x="391362" y="0"/>
                </a:lnTo>
                <a:lnTo>
                  <a:pt x="391362" y="395518"/>
                </a:lnTo>
                <a:lnTo>
                  <a:pt x="0" y="3955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348963" y="7259611"/>
            <a:ext cx="513606" cy="2339172"/>
          </a:xfrm>
          <a:custGeom>
            <a:avLst/>
            <a:gdLst/>
            <a:ahLst/>
            <a:cxnLst/>
            <a:rect r="r" b="b" t="t" l="l"/>
            <a:pathLst>
              <a:path h="2339172" w="513606">
                <a:moveTo>
                  <a:pt x="0" y="0"/>
                </a:moveTo>
                <a:lnTo>
                  <a:pt x="513606" y="0"/>
                </a:lnTo>
                <a:lnTo>
                  <a:pt x="513606" y="2339172"/>
                </a:lnTo>
                <a:lnTo>
                  <a:pt x="0" y="23391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rot="5391564">
            <a:off x="10965208" y="7321775"/>
            <a:ext cx="7763873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2650301">
            <a:off x="14650915" y="2996117"/>
            <a:ext cx="1320660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5400000">
            <a:off x="15703089" y="2213087"/>
            <a:ext cx="405900" cy="401750"/>
            <a:chOff x="0" y="0"/>
            <a:chExt cx="541200" cy="535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515620" cy="510032"/>
            </a:xfrm>
            <a:custGeom>
              <a:avLst/>
              <a:gdLst/>
              <a:ahLst/>
              <a:cxnLst/>
              <a:rect r="r" b="b" t="t" l="l"/>
              <a:pathLst>
                <a:path h="510032" w="515620">
                  <a:moveTo>
                    <a:pt x="0" y="255778"/>
                  </a:moveTo>
                  <a:cubicBezTo>
                    <a:pt x="0" y="397256"/>
                    <a:pt x="118491" y="510032"/>
                    <a:pt x="254508" y="510032"/>
                  </a:cubicBezTo>
                  <a:cubicBezTo>
                    <a:pt x="395986" y="510032"/>
                    <a:pt x="515620" y="397256"/>
                    <a:pt x="515620" y="255778"/>
                  </a:cubicBezTo>
                  <a:cubicBezTo>
                    <a:pt x="515620" y="114300"/>
                    <a:pt x="395986" y="0"/>
                    <a:pt x="254508" y="0"/>
                  </a:cubicBezTo>
                  <a:cubicBezTo>
                    <a:pt x="118491" y="0"/>
                    <a:pt x="0" y="114300"/>
                    <a:pt x="0" y="255778"/>
                  </a:cubicBezTo>
                  <a:close/>
                </a:path>
              </a:pathLst>
            </a:custGeom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1020" cy="535432"/>
            </a:xfrm>
            <a:custGeom>
              <a:avLst/>
              <a:gdLst/>
              <a:ahLst/>
              <a:cxnLst/>
              <a:rect r="r" b="b" t="t" l="l"/>
              <a:pathLst>
                <a:path h="535432" w="541020">
                  <a:moveTo>
                    <a:pt x="25400" y="268478"/>
                  </a:moveTo>
                  <a:cubicBezTo>
                    <a:pt x="25400" y="402717"/>
                    <a:pt x="137922" y="510032"/>
                    <a:pt x="267208" y="510032"/>
                  </a:cubicBezTo>
                  <a:lnTo>
                    <a:pt x="267208" y="522732"/>
                  </a:lnTo>
                  <a:lnTo>
                    <a:pt x="267208" y="510032"/>
                  </a:lnTo>
                  <a:cubicBezTo>
                    <a:pt x="402209" y="510032"/>
                    <a:pt x="515620" y="402463"/>
                    <a:pt x="515620" y="268478"/>
                  </a:cubicBezTo>
                  <a:lnTo>
                    <a:pt x="528320" y="268478"/>
                  </a:lnTo>
                  <a:lnTo>
                    <a:pt x="515620" y="268478"/>
                  </a:lnTo>
                  <a:cubicBezTo>
                    <a:pt x="515620" y="134366"/>
                    <a:pt x="402082" y="25400"/>
                    <a:pt x="267208" y="25400"/>
                  </a:cubicBezTo>
                  <a:lnTo>
                    <a:pt x="267208" y="12700"/>
                  </a:lnTo>
                  <a:lnTo>
                    <a:pt x="267208" y="25400"/>
                  </a:lnTo>
                  <a:cubicBezTo>
                    <a:pt x="138049" y="25400"/>
                    <a:pt x="25400" y="134112"/>
                    <a:pt x="25400" y="268478"/>
                  </a:cubicBezTo>
                  <a:lnTo>
                    <a:pt x="12700" y="268478"/>
                  </a:lnTo>
                  <a:lnTo>
                    <a:pt x="25400" y="268478"/>
                  </a:lnTo>
                  <a:moveTo>
                    <a:pt x="0" y="268478"/>
                  </a:moveTo>
                  <a:cubicBezTo>
                    <a:pt x="0" y="119888"/>
                    <a:pt x="124206" y="0"/>
                    <a:pt x="267208" y="0"/>
                  </a:cubicBezTo>
                  <a:cubicBezTo>
                    <a:pt x="415417" y="0"/>
                    <a:pt x="541020" y="119634"/>
                    <a:pt x="541020" y="268478"/>
                  </a:cubicBezTo>
                  <a:cubicBezTo>
                    <a:pt x="541020" y="417322"/>
                    <a:pt x="415290" y="535432"/>
                    <a:pt x="267208" y="535432"/>
                  </a:cubicBezTo>
                  <a:cubicBezTo>
                    <a:pt x="124333" y="535432"/>
                    <a:pt x="0" y="417195"/>
                    <a:pt x="0" y="268478"/>
                  </a:cubicBezTo>
                  <a:close/>
                </a:path>
              </a:pathLst>
            </a:custGeom>
            <a:solidFill>
              <a:srgbClr val="69639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272222" y="6452546"/>
            <a:ext cx="80112" cy="881760"/>
            <a:chOff x="0" y="0"/>
            <a:chExt cx="106816" cy="1175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" y="0"/>
              <a:ext cx="106807" cy="1175512"/>
            </a:xfrm>
            <a:custGeom>
              <a:avLst/>
              <a:gdLst/>
              <a:ahLst/>
              <a:cxnLst/>
              <a:rect r="r" b="b" t="t" l="l"/>
              <a:pathLst>
                <a:path h="1175512" w="106807">
                  <a:moveTo>
                    <a:pt x="53340" y="127"/>
                  </a:moveTo>
                  <a:cubicBezTo>
                    <a:pt x="22225" y="127"/>
                    <a:pt x="0" y="22352"/>
                    <a:pt x="0" y="53340"/>
                  </a:cubicBezTo>
                  <a:lnTo>
                    <a:pt x="0" y="1122172"/>
                  </a:lnTo>
                  <a:cubicBezTo>
                    <a:pt x="0" y="1150620"/>
                    <a:pt x="22225" y="1175512"/>
                    <a:pt x="53340" y="1175512"/>
                  </a:cubicBezTo>
                  <a:cubicBezTo>
                    <a:pt x="81788" y="1175512"/>
                    <a:pt x="106807" y="1150493"/>
                    <a:pt x="106807" y="1122172"/>
                  </a:cubicBezTo>
                  <a:lnTo>
                    <a:pt x="106807" y="53340"/>
                  </a:lnTo>
                  <a:cubicBezTo>
                    <a:pt x="106807" y="22352"/>
                    <a:pt x="81788" y="0"/>
                    <a:pt x="53340" y="0"/>
                  </a:cubicBezTo>
                  <a:close/>
                </a:path>
              </a:pathLst>
            </a:custGeom>
            <a:solidFill>
              <a:srgbClr val="AFAFB6"/>
            </a:solidFill>
          </p:spPr>
        </p:sp>
      </p:grpSp>
      <p:sp>
        <p:nvSpPr>
          <p:cNvPr name="AutoShape 17" id="17"/>
          <p:cNvSpPr/>
          <p:nvPr/>
        </p:nvSpPr>
        <p:spPr>
          <a:xfrm rot="1125">
            <a:off x="14843128" y="3953100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1125">
            <a:off x="14843128" y="422661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1125">
            <a:off x="14843128" y="4089855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1125">
            <a:off x="14843128" y="4363366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1125">
            <a:off x="14843128" y="4500121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1125">
            <a:off x="14843128" y="4636877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1125">
            <a:off x="14843128" y="4773632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rot="1125">
            <a:off x="14843128" y="4910387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1125">
            <a:off x="14843128" y="5047143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1125">
            <a:off x="14843128" y="5183898"/>
            <a:ext cx="7726451" cy="0"/>
          </a:xfrm>
          <a:prstGeom prst="line">
            <a:avLst/>
          </a:prstGeom>
          <a:ln cap="rnd" w="9525">
            <a:solidFill>
              <a:srgbClr val="69639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4281413" y="4184397"/>
            <a:ext cx="105282" cy="969038"/>
          </a:xfrm>
          <a:custGeom>
            <a:avLst/>
            <a:gdLst/>
            <a:ahLst/>
            <a:cxnLst/>
            <a:rect r="r" b="b" t="t" l="l"/>
            <a:pathLst>
              <a:path h="969038" w="105282">
                <a:moveTo>
                  <a:pt x="0" y="0"/>
                </a:moveTo>
                <a:lnTo>
                  <a:pt x="105282" y="0"/>
                </a:lnTo>
                <a:lnTo>
                  <a:pt x="105282" y="969038"/>
                </a:lnTo>
                <a:lnTo>
                  <a:pt x="0" y="9690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768825" y="-717125"/>
            <a:ext cx="11737500" cy="3274237"/>
          </a:xfrm>
          <a:custGeom>
            <a:avLst/>
            <a:gdLst/>
            <a:ahLst/>
            <a:cxnLst/>
            <a:rect r="r" b="b" t="t" l="l"/>
            <a:pathLst>
              <a:path h="3274237" w="11737500">
                <a:moveTo>
                  <a:pt x="0" y="0"/>
                </a:moveTo>
                <a:lnTo>
                  <a:pt x="11737500" y="0"/>
                </a:lnTo>
                <a:lnTo>
                  <a:pt x="11737500" y="3274237"/>
                </a:lnTo>
                <a:lnTo>
                  <a:pt x="0" y="327423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DAHKahpPUkM</dc:identifier>
  <dcterms:modified xsi:type="dcterms:W3CDTF">2011-08-01T06:04:30Z</dcterms:modified>
  <cp:revision>1</cp:revision>
  <dc:title>Metodologia Ágil - PHP - Grupo S</dc:title>
</cp:coreProperties>
</file>